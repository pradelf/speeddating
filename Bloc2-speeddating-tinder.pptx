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61" r:id="rId5"/>
    <p:sldId id="259" r:id="rId6"/>
    <p:sldId id="263" r:id="rId7"/>
    <p:sldId id="264" r:id="rId8"/>
    <p:sldId id="266" r:id="rId9"/>
    <p:sldId id="260" r:id="rId10"/>
    <p:sldId id="262" r:id="rId11"/>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515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notesView">
  <p:normalViewPr horzBarState="maximized">
    <p:restoredLeft sz="23868"/>
    <p:restoredTop sz="95638"/>
  </p:normalViewPr>
  <p:slideViewPr>
    <p:cSldViewPr snapToGrid="0">
      <p:cViewPr varScale="1">
        <p:scale>
          <a:sx n="99" d="100"/>
          <a:sy n="99" d="100"/>
        </p:scale>
        <p:origin x="584" y="472"/>
      </p:cViewPr>
      <p:guideLst/>
    </p:cSldViewPr>
  </p:slideViewPr>
  <p:notesTextViewPr>
    <p:cViewPr>
      <p:scale>
        <a:sx n="1" d="1"/>
        <a:sy n="1" d="1"/>
      </p:scale>
      <p:origin x="0" y="0"/>
    </p:cViewPr>
  </p:notesTextViewPr>
  <p:notesViewPr>
    <p:cSldViewPr snapToGrid="0">
      <p:cViewPr varScale="1">
        <p:scale>
          <a:sx n="85" d="100"/>
          <a:sy n="85" d="100"/>
        </p:scale>
        <p:origin x="3928" y="17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42EFE5-5940-C94F-9A44-D30A0D011F2A}" type="datetimeFigureOut">
              <a:rPr lang="fr-FR" smtClean="0"/>
              <a:t>12/02/2026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4FFB1DF-7BD2-6E49-8024-A7024676CAFB}" type="slidenum">
              <a:rPr lang="fr-FR" smtClean="0"/>
              <a:t>‹N°›</a:t>
            </a:fld>
            <a:endParaRPr lang="fr-FR"/>
          </a:p>
        </p:txBody>
      </p:sp>
    </p:spTree>
    <p:extLst>
      <p:ext uri="{BB962C8B-B14F-4D97-AF65-F5344CB8AC3E}">
        <p14:creationId xmlns:p14="http://schemas.microsoft.com/office/powerpoint/2010/main" val="6921598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A4FFB1DF-7BD2-6E49-8024-A7024676CAFB}" type="slidenum">
              <a:rPr lang="fr-FR" smtClean="0"/>
              <a:t>1</a:t>
            </a:fld>
            <a:endParaRPr lang="fr-FR"/>
          </a:p>
        </p:txBody>
      </p:sp>
    </p:spTree>
    <p:extLst>
      <p:ext uri="{BB962C8B-B14F-4D97-AF65-F5344CB8AC3E}">
        <p14:creationId xmlns:p14="http://schemas.microsoft.com/office/powerpoint/2010/main" val="36072457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u="none" strike="noStrike" kern="1200" dirty="0">
                <a:solidFill>
                  <a:schemeClr val="tx1"/>
                </a:solidFill>
                <a:effectLst/>
                <a:latin typeface="+mn-lt"/>
                <a:ea typeface="+mn-ea"/>
                <a:cs typeface="+mn-cs"/>
              </a:rPr>
              <a:t>L'application fait défiler des profils d'utilisateurs sur plusieurs critères, dont le sexe et la position géographique, mais surtout sur des critères de proximité supposée selon un algorithme en fonction du sexe et de l'âge, du niveau d'études, de l'ethnie et des revenus, la proximité géographique pouvant être éclipsée par ces derniers. </a:t>
            </a:r>
          </a:p>
          <a:p>
            <a:r>
              <a:rPr lang="fr-FR" sz="1200" b="0" i="0" u="none" strike="noStrike" kern="1200" dirty="0">
                <a:solidFill>
                  <a:schemeClr val="tx1"/>
                </a:solidFill>
                <a:effectLst/>
                <a:latin typeface="+mn-lt"/>
                <a:ea typeface="+mn-ea"/>
                <a:cs typeface="+mn-cs"/>
              </a:rPr>
              <a:t>L'utilisateur indique s'il apprécie ou non ces critères en balayant l'écran (ou </a:t>
            </a:r>
            <a:r>
              <a:rPr lang="fr-FR" sz="1200" b="0" i="0" kern="1200" dirty="0">
                <a:solidFill>
                  <a:schemeClr val="tx1"/>
                </a:solidFill>
                <a:effectLst/>
                <a:latin typeface="+mn-lt"/>
                <a:ea typeface="+mn-ea"/>
                <a:cs typeface="+mn-cs"/>
              </a:rPr>
              <a:t>« swiper »</a:t>
            </a:r>
            <a:r>
              <a:rPr lang="fr-FR" sz="1200" b="0" i="0" u="none" strike="noStrike" kern="1200" dirty="0">
                <a:solidFill>
                  <a:schemeClr val="tx1"/>
                </a:solidFill>
                <a:effectLst/>
                <a:latin typeface="+mn-lt"/>
                <a:ea typeface="+mn-ea"/>
                <a:cs typeface="+mn-cs"/>
              </a:rPr>
              <a:t>) vers la droite ou vers la gauche. Lorsque l'attraction est réciproque, l'application indique « </a:t>
            </a:r>
            <a:r>
              <a:rPr lang="fr-FR" sz="1200" b="0" i="1" kern="1200" dirty="0">
                <a:solidFill>
                  <a:schemeClr val="tx1"/>
                </a:solidFill>
                <a:effectLst/>
                <a:latin typeface="+mn-lt"/>
                <a:ea typeface="+mn-ea"/>
                <a:cs typeface="+mn-cs"/>
              </a:rPr>
              <a:t>match</a:t>
            </a:r>
            <a:r>
              <a:rPr lang="fr-FR" sz="1200" b="0" i="0" u="none" strike="noStrike" kern="1200" dirty="0">
                <a:solidFill>
                  <a:schemeClr val="tx1"/>
                </a:solidFill>
                <a:effectLst/>
                <a:latin typeface="+mn-lt"/>
                <a:ea typeface="+mn-ea"/>
                <a:cs typeface="+mn-cs"/>
              </a:rPr>
              <a:t> » et les deux utilisateurs sont mis en relation et peuvent échanger des messages</a:t>
            </a:r>
            <a:endParaRPr lang="fr-FR" dirty="0"/>
          </a:p>
        </p:txBody>
      </p:sp>
      <p:sp>
        <p:nvSpPr>
          <p:cNvPr id="4" name="Espace réservé du numéro de diapositive 3"/>
          <p:cNvSpPr>
            <a:spLocks noGrp="1"/>
          </p:cNvSpPr>
          <p:nvPr>
            <p:ph type="sldNum" sz="quarter" idx="5"/>
          </p:nvPr>
        </p:nvSpPr>
        <p:spPr/>
        <p:txBody>
          <a:bodyPr/>
          <a:lstStyle/>
          <a:p>
            <a:fld id="{A4FFB1DF-7BD2-6E49-8024-A7024676CAFB}" type="slidenum">
              <a:rPr lang="fr-FR" smtClean="0"/>
              <a:t>2</a:t>
            </a:fld>
            <a:endParaRPr lang="fr-FR"/>
          </a:p>
        </p:txBody>
      </p:sp>
    </p:spTree>
    <p:extLst>
      <p:ext uri="{BB962C8B-B14F-4D97-AF65-F5344CB8AC3E}">
        <p14:creationId xmlns:p14="http://schemas.microsoft.com/office/powerpoint/2010/main" val="6171134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A4FFB1DF-7BD2-6E49-8024-A7024676CAFB}" type="slidenum">
              <a:rPr lang="fr-FR" smtClean="0"/>
              <a:t>3</a:t>
            </a:fld>
            <a:endParaRPr lang="fr-FR"/>
          </a:p>
        </p:txBody>
      </p:sp>
    </p:spTree>
    <p:extLst>
      <p:ext uri="{BB962C8B-B14F-4D97-AF65-F5344CB8AC3E}">
        <p14:creationId xmlns:p14="http://schemas.microsoft.com/office/powerpoint/2010/main" val="34543903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A4FFB1DF-7BD2-6E49-8024-A7024676CAFB}" type="slidenum">
              <a:rPr lang="fr-FR" smtClean="0"/>
              <a:t>4</a:t>
            </a:fld>
            <a:endParaRPr lang="fr-FR"/>
          </a:p>
        </p:txBody>
      </p:sp>
    </p:spTree>
    <p:extLst>
      <p:ext uri="{BB962C8B-B14F-4D97-AF65-F5344CB8AC3E}">
        <p14:creationId xmlns:p14="http://schemas.microsoft.com/office/powerpoint/2010/main" val="33171765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kern="1200" dirty="0">
                <a:solidFill>
                  <a:schemeClr val="tx1"/>
                </a:solidFill>
                <a:effectLst/>
                <a:latin typeface="+mn-lt"/>
                <a:ea typeface="+mn-ea"/>
                <a:cs typeface="+mn-cs"/>
              </a:rPr>
              <a:t>Une </a:t>
            </a:r>
            <a:r>
              <a:rPr lang="fr-FR" sz="1200" b="1" kern="1200" dirty="0">
                <a:solidFill>
                  <a:schemeClr val="tx1"/>
                </a:solidFill>
                <a:effectLst/>
                <a:latin typeface="+mn-lt"/>
                <a:ea typeface="+mn-ea"/>
                <a:cs typeface="+mn-cs"/>
              </a:rPr>
              <a:t>probabilité de 16,47 % d’obtenir un match</a:t>
            </a:r>
            <a:r>
              <a:rPr lang="fr-FR" sz="1200" b="0" kern="1200" dirty="0">
                <a:solidFill>
                  <a:schemeClr val="tx1"/>
                </a:solidFill>
                <a:effectLst/>
                <a:latin typeface="+mn-lt"/>
                <a:ea typeface="+mn-ea"/>
                <a:cs typeface="+mn-cs"/>
              </a:rPr>
              <a:t> et de </a:t>
            </a:r>
            <a:r>
              <a:rPr lang="fr-FR" sz="1200" b="1" kern="1200" dirty="0">
                <a:solidFill>
                  <a:schemeClr val="tx1"/>
                </a:solidFill>
                <a:effectLst/>
                <a:latin typeface="+mn-lt"/>
                <a:ea typeface="+mn-ea"/>
                <a:cs typeface="+mn-cs"/>
              </a:rPr>
              <a:t>17,88 % d’obtenir un second rendez-vous</a:t>
            </a:r>
            <a:r>
              <a:rPr lang="fr-FR" sz="1200" b="0" kern="1200" dirty="0">
                <a:solidFill>
                  <a:schemeClr val="tx1"/>
                </a:solidFill>
                <a:effectLst/>
                <a:latin typeface="+mn-lt"/>
                <a:ea typeface="+mn-ea"/>
                <a:cs typeface="+mn-cs"/>
              </a:rPr>
              <a:t> ? </a:t>
            </a:r>
          </a:p>
          <a:p>
            <a:r>
              <a:rPr lang="fr-FR" sz="1200" b="0" kern="1200" dirty="0">
                <a:solidFill>
                  <a:schemeClr val="tx1"/>
                </a:solidFill>
                <a:effectLst/>
                <a:latin typeface="+mn-lt"/>
                <a:ea typeface="+mn-ea"/>
                <a:cs typeface="+mn-cs"/>
              </a:rPr>
              <a:t>C’est effectivement </a:t>
            </a:r>
            <a:r>
              <a:rPr lang="fr-FR" sz="1200" b="1" kern="1200" dirty="0">
                <a:solidFill>
                  <a:schemeClr val="tx1"/>
                </a:solidFill>
                <a:effectLst/>
                <a:latin typeface="+mn-lt"/>
                <a:ea typeface="+mn-ea"/>
                <a:cs typeface="+mn-cs"/>
              </a:rPr>
              <a:t>un peu surprenant</a:t>
            </a:r>
            <a:r>
              <a:rPr lang="fr-FR" sz="1200" b="0" kern="1200" dirty="0">
                <a:solidFill>
                  <a:schemeClr val="tx1"/>
                </a:solidFill>
                <a:effectLst/>
                <a:latin typeface="+mn-lt"/>
                <a:ea typeface="+mn-ea"/>
                <a:cs typeface="+mn-cs"/>
              </a:rPr>
              <a:t>…</a:t>
            </a:r>
          </a:p>
          <a:p>
            <a:r>
              <a:rPr lang="fr-FR" sz="1200" b="0" kern="1200" dirty="0">
                <a:solidFill>
                  <a:schemeClr val="tx1"/>
                </a:solidFill>
                <a:effectLst/>
                <a:latin typeface="+mn-lt"/>
                <a:ea typeface="+mn-ea"/>
                <a:cs typeface="+mn-cs"/>
              </a:rPr>
              <a:t>Environ </a:t>
            </a:r>
            <a:r>
              <a:rPr lang="fr-FR" sz="1200" b="1" kern="1200" dirty="0">
                <a:solidFill>
                  <a:schemeClr val="tx1"/>
                </a:solidFill>
                <a:effectLst/>
                <a:latin typeface="+mn-lt"/>
                <a:ea typeface="+mn-ea"/>
                <a:cs typeface="+mn-cs"/>
              </a:rPr>
              <a:t>25,52 %</a:t>
            </a:r>
            <a:r>
              <a:rPr lang="fr-FR" sz="1200" b="0" kern="1200" dirty="0">
                <a:solidFill>
                  <a:schemeClr val="tx1"/>
                </a:solidFill>
                <a:effectLst/>
                <a:latin typeface="+mn-lt"/>
                <a:ea typeface="+mn-ea"/>
                <a:cs typeface="+mn-cs"/>
              </a:rPr>
              <a:t> des participants ont probablement été </a:t>
            </a:r>
            <a:r>
              <a:rPr lang="fr-FR" sz="1200" b="1" kern="1200" dirty="0">
                <a:solidFill>
                  <a:schemeClr val="tx1"/>
                </a:solidFill>
                <a:effectLst/>
                <a:latin typeface="+mn-lt"/>
                <a:ea typeface="+mn-ea"/>
                <a:cs typeface="+mn-cs"/>
              </a:rPr>
              <a:t>déçus après avoir dit “oui” à quelqu’un qui ne les appréciait pas en retour</a:t>
            </a:r>
            <a:r>
              <a:rPr lang="fr-FR" sz="1200" b="0" kern="1200" dirty="0">
                <a:solidFill>
                  <a:schemeClr val="tx1"/>
                </a:solidFill>
                <a:effectLst/>
                <a:latin typeface="+mn-lt"/>
                <a:ea typeface="+mn-ea"/>
                <a:cs typeface="+mn-cs"/>
              </a:rPr>
              <a:t>.</a:t>
            </a:r>
          </a:p>
          <a:p>
            <a:br>
              <a:rPr lang="fr-FR" sz="1200" b="0" kern="1200" dirty="0">
                <a:solidFill>
                  <a:schemeClr val="tx1"/>
                </a:solidFill>
                <a:effectLst/>
                <a:latin typeface="+mn-lt"/>
                <a:ea typeface="+mn-ea"/>
                <a:cs typeface="+mn-cs"/>
              </a:rPr>
            </a:b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Les </a:t>
            </a:r>
            <a:r>
              <a:rPr lang="fr-FR" b="1" dirty="0"/>
              <a:t>h</a:t>
            </a:r>
            <a:r>
              <a:rPr lang="fr-FR" sz="1200" b="1" kern="1200" dirty="0">
                <a:solidFill>
                  <a:schemeClr val="tx1"/>
                </a:solidFill>
                <a:effectLst/>
                <a:latin typeface="+mn-lt"/>
                <a:ea typeface="+mn-ea"/>
                <a:cs typeface="+mn-cs"/>
              </a:rPr>
              <a:t>ommes</a:t>
            </a:r>
            <a:r>
              <a:rPr lang="fr-FR" sz="1200" b="0" kern="1200" dirty="0">
                <a:solidFill>
                  <a:schemeClr val="tx1"/>
                </a:solidFill>
                <a:effectLst/>
                <a:latin typeface="+mn-lt"/>
                <a:ea typeface="+mn-ea"/>
                <a:cs typeface="+mn-cs"/>
              </a:rPr>
              <a:t> ont été </a:t>
            </a:r>
            <a:r>
              <a:rPr lang="fr-FR" sz="1200" b="1" kern="1200" dirty="0">
                <a:solidFill>
                  <a:schemeClr val="tx1"/>
                </a:solidFill>
                <a:effectLst/>
                <a:latin typeface="+mn-lt"/>
                <a:ea typeface="+mn-ea"/>
                <a:cs typeface="+mn-cs"/>
              </a:rPr>
              <a:t>plus souvent rejetés </a:t>
            </a:r>
            <a:r>
              <a:rPr lang="fr-FR" sz="1200" b="0" kern="1200" dirty="0">
                <a:solidFill>
                  <a:schemeClr val="tx1"/>
                </a:solidFill>
                <a:effectLst/>
                <a:latin typeface="+mn-lt"/>
                <a:ea typeface="+mn-ea"/>
                <a:cs typeface="+mn-cs"/>
              </a:rPr>
              <a:t>après un “oui” espéré, avec </a:t>
            </a:r>
            <a:r>
              <a:rPr lang="fr-FR" sz="1200" b="1" kern="1200" dirty="0">
                <a:solidFill>
                  <a:schemeClr val="tx1"/>
                </a:solidFill>
                <a:effectLst/>
                <a:latin typeface="+mn-lt"/>
                <a:ea typeface="+mn-ea"/>
                <a:cs typeface="+mn-cs"/>
              </a:rPr>
              <a:t>1 299 cas recensés</a:t>
            </a:r>
            <a:r>
              <a:rPr lang="fr-FR" b="1" dirty="0"/>
              <a:t>, </a:t>
            </a:r>
            <a:r>
              <a:rPr lang="fr-FR" sz="1200" b="0" kern="1200" dirty="0">
                <a:solidFill>
                  <a:schemeClr val="tx1"/>
                </a:solidFill>
                <a:effectLst/>
                <a:latin typeface="+mn-lt"/>
                <a:ea typeface="+mn-ea"/>
                <a:cs typeface="+mn-cs"/>
              </a:rPr>
              <a:t> contre </a:t>
            </a:r>
            <a:r>
              <a:rPr lang="fr-FR" sz="1200" b="1" kern="1200" dirty="0">
                <a:solidFill>
                  <a:schemeClr val="tx1"/>
                </a:solidFill>
                <a:effectLst/>
                <a:latin typeface="+mn-lt"/>
                <a:ea typeface="+mn-ea"/>
                <a:cs typeface="+mn-cs"/>
              </a:rPr>
              <a:t>839 pour les femmes</a:t>
            </a:r>
            <a:r>
              <a:rPr lang="fr-FR" sz="1200" b="0" kern="1200" dirty="0">
                <a:solidFill>
                  <a:schemeClr val="tx1"/>
                </a:solidFill>
                <a:effectLst/>
                <a:latin typeface="+mn-lt"/>
                <a:ea typeface="+mn-ea"/>
                <a:cs typeface="+mn-cs"/>
              </a:rPr>
              <a:t>,</a:t>
            </a:r>
          </a:p>
          <a:p>
            <a:r>
              <a:rPr lang="fr-FR" sz="1200" b="0" kern="1200" dirty="0">
                <a:solidFill>
                  <a:schemeClr val="tx1"/>
                </a:solidFill>
                <a:effectLst/>
                <a:latin typeface="+mn-lt"/>
                <a:ea typeface="+mn-ea"/>
                <a:cs typeface="+mn-cs"/>
              </a:rPr>
              <a:t>sur un total de </a:t>
            </a:r>
            <a:r>
              <a:rPr lang="fr-FR" sz="1200" b="1" kern="1200" dirty="0">
                <a:solidFill>
                  <a:schemeClr val="tx1"/>
                </a:solidFill>
                <a:effectLst/>
                <a:latin typeface="+mn-lt"/>
                <a:ea typeface="+mn-ea"/>
                <a:cs typeface="+mn-cs"/>
              </a:rPr>
              <a:t>8 378 rendez-vous</a:t>
            </a:r>
            <a:r>
              <a:rPr lang="fr-FR" b="1" dirty="0"/>
              <a:t> </a:t>
            </a:r>
            <a:r>
              <a:rPr lang="fr-FR" sz="1200" b="0" kern="1200" dirty="0">
                <a:solidFill>
                  <a:schemeClr val="tx1"/>
                </a:solidFill>
                <a:effectLst/>
                <a:latin typeface="+mn-lt"/>
                <a:ea typeface="+mn-ea"/>
                <a:cs typeface="+mn-cs"/>
              </a:rPr>
              <a:t>enregistrés pour les deux sexes.</a:t>
            </a:r>
          </a:p>
          <a:p>
            <a:endParaRPr lang="fr-FR" dirty="0"/>
          </a:p>
        </p:txBody>
      </p:sp>
      <p:sp>
        <p:nvSpPr>
          <p:cNvPr id="4" name="Espace réservé du numéro de diapositive 3"/>
          <p:cNvSpPr>
            <a:spLocks noGrp="1"/>
          </p:cNvSpPr>
          <p:nvPr>
            <p:ph type="sldNum" sz="quarter" idx="5"/>
          </p:nvPr>
        </p:nvSpPr>
        <p:spPr/>
        <p:txBody>
          <a:bodyPr/>
          <a:lstStyle/>
          <a:p>
            <a:fld id="{A4FFB1DF-7BD2-6E49-8024-A7024676CAFB}" type="slidenum">
              <a:rPr lang="fr-FR" smtClean="0"/>
              <a:t>5</a:t>
            </a:fld>
            <a:endParaRPr lang="fr-FR"/>
          </a:p>
        </p:txBody>
      </p:sp>
    </p:spTree>
    <p:extLst>
      <p:ext uri="{BB962C8B-B14F-4D97-AF65-F5344CB8AC3E}">
        <p14:creationId xmlns:p14="http://schemas.microsoft.com/office/powerpoint/2010/main" val="7383581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kern="1200" dirty="0">
                <a:solidFill>
                  <a:schemeClr val="tx1"/>
                </a:solidFill>
                <a:effectLst/>
                <a:latin typeface="+mn-lt"/>
                <a:ea typeface="+mn-ea"/>
                <a:cs typeface="+mn-cs"/>
              </a:rPr>
              <a:t>Il y a donc une probabilité de 1380/(1380+6998) soit 16,47% de chance d'avoir un match.</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b="0" kern="1200" dirty="0">
              <a:solidFill>
                <a:schemeClr val="tx1"/>
              </a:solidFill>
              <a:effectLst/>
              <a:latin typeface="+mn-lt"/>
              <a:ea typeface="+mn-ea"/>
              <a:cs typeface="+mn-cs"/>
            </a:endParaRPr>
          </a:p>
          <a:p>
            <a:r>
              <a:rPr lang="fr-FR" sz="1200" b="0" kern="1200" dirty="0">
                <a:solidFill>
                  <a:schemeClr val="tx1"/>
                </a:solidFill>
                <a:effectLst/>
                <a:latin typeface="+mn-lt"/>
                <a:ea typeface="+mn-ea"/>
                <a:cs typeface="+mn-cs"/>
              </a:rPr>
              <a:t>Après examen des variables : </a:t>
            </a:r>
          </a:p>
          <a:p>
            <a:r>
              <a:rPr lang="fr-FR" sz="1200" b="0" kern="1200" dirty="0">
                <a:solidFill>
                  <a:schemeClr val="tx1"/>
                </a:solidFill>
                <a:effectLst/>
                <a:latin typeface="+mn-lt"/>
                <a:ea typeface="+mn-ea"/>
                <a:cs typeface="+mn-cs"/>
              </a:rPr>
              <a:t>- Age : </a:t>
            </a:r>
            <a:r>
              <a:rPr lang="fr-FR" sz="1200" b="0" kern="1200" dirty="0" err="1">
                <a:solidFill>
                  <a:schemeClr val="tx1"/>
                </a:solidFill>
                <a:effectLst/>
                <a:latin typeface="+mn-lt"/>
                <a:ea typeface="+mn-ea"/>
                <a:cs typeface="+mn-cs"/>
              </a:rPr>
              <a:t>Mean</a:t>
            </a:r>
            <a:r>
              <a:rPr lang="fr-FR" sz="1200" b="0" kern="1200" dirty="0">
                <a:solidFill>
                  <a:schemeClr val="tx1"/>
                </a:solidFill>
                <a:effectLst/>
                <a:latin typeface="+mn-lt"/>
                <a:ea typeface="+mn-ea"/>
                <a:cs typeface="+mn-cs"/>
              </a:rPr>
              <a:t> = 25.8 [18-34]</a:t>
            </a:r>
          </a:p>
          <a:p>
            <a:r>
              <a:rPr lang="fr-FR" sz="1200" b="0" kern="1200" dirty="0">
                <a:solidFill>
                  <a:schemeClr val="tx1"/>
                </a:solidFill>
                <a:effectLst/>
                <a:latin typeface="+mn-lt"/>
                <a:ea typeface="+mn-ea"/>
                <a:cs typeface="+mn-cs"/>
              </a:rPr>
              <a:t>- Pour les </a:t>
            </a:r>
            <a:r>
              <a:rPr lang="fr-FR" sz="1200" b="0" kern="1200" dirty="0" err="1">
                <a:solidFill>
                  <a:schemeClr val="tx1"/>
                </a:solidFill>
                <a:effectLst/>
                <a:latin typeface="+mn-lt"/>
                <a:ea typeface="+mn-ea"/>
                <a:cs typeface="+mn-cs"/>
              </a:rPr>
              <a:t>caracteristiques</a:t>
            </a:r>
            <a:r>
              <a:rPr lang="fr-FR" sz="1200" b="0" kern="1200" dirty="0">
                <a:solidFill>
                  <a:schemeClr val="tx1"/>
                </a:solidFill>
                <a:effectLst/>
                <a:latin typeface="+mn-lt"/>
                <a:ea typeface="+mn-ea"/>
                <a:cs typeface="+mn-cs"/>
              </a:rPr>
              <a:t> recherchées chez autrui : </a:t>
            </a:r>
          </a:p>
          <a:p>
            <a:r>
              <a:rPr lang="fr-FR" sz="1200" b="0" kern="1200" dirty="0">
                <a:solidFill>
                  <a:schemeClr val="tx1"/>
                </a:solidFill>
                <a:effectLst/>
                <a:latin typeface="+mn-lt"/>
                <a:ea typeface="+mn-ea"/>
                <a:cs typeface="+mn-cs"/>
              </a:rPr>
              <a:t>- Attractivité (Med = 20), Intelligence (Med = 20), Fun (Med = 20)</a:t>
            </a:r>
          </a:p>
          <a:p>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Sincerité</a:t>
            </a:r>
            <a:r>
              <a:rPr lang="fr-FR" sz="1200" b="0" kern="1200" dirty="0">
                <a:solidFill>
                  <a:schemeClr val="tx1"/>
                </a:solidFill>
                <a:effectLst/>
                <a:latin typeface="+mn-lt"/>
                <a:ea typeface="+mn-ea"/>
                <a:cs typeface="+mn-cs"/>
              </a:rPr>
              <a:t> (Med = 18)</a:t>
            </a:r>
          </a:p>
          <a:p>
            <a:r>
              <a:rPr lang="fr-FR" sz="1200" b="0" kern="1200" dirty="0">
                <a:solidFill>
                  <a:schemeClr val="tx1"/>
                </a:solidFill>
                <a:effectLst/>
                <a:latin typeface="+mn-lt"/>
                <a:ea typeface="+mn-ea"/>
                <a:cs typeface="+mn-cs"/>
              </a:rPr>
              <a:t>- Ambition (Med = 10), Partage de centres d'</a:t>
            </a:r>
            <a:r>
              <a:rPr lang="fr-FR" sz="1200" b="0" kern="1200" dirty="0" err="1">
                <a:solidFill>
                  <a:schemeClr val="tx1"/>
                </a:solidFill>
                <a:effectLst/>
                <a:latin typeface="+mn-lt"/>
                <a:ea typeface="+mn-ea"/>
                <a:cs typeface="+mn-cs"/>
              </a:rPr>
              <a:t>intéret</a:t>
            </a:r>
            <a:r>
              <a:rPr lang="fr-FR" sz="1200" b="0" kern="1200" dirty="0">
                <a:solidFill>
                  <a:schemeClr val="tx1"/>
                </a:solidFill>
                <a:effectLst/>
                <a:latin typeface="+mn-lt"/>
                <a:ea typeface="+mn-ea"/>
                <a:cs typeface="+mn-cs"/>
              </a:rPr>
              <a:t> (Med = 10)</a:t>
            </a:r>
          </a:p>
          <a:p>
            <a:r>
              <a:rPr lang="fr-FR" sz="1200" b="0" kern="1200" dirty="0">
                <a:solidFill>
                  <a:schemeClr val="tx1"/>
                </a:solidFill>
                <a:effectLst/>
                <a:latin typeface="+mn-lt"/>
                <a:ea typeface="+mn-ea"/>
                <a:cs typeface="+mn-cs"/>
              </a:rPr>
              <a:t>- Perception par autrui : </a:t>
            </a:r>
          </a:p>
          <a:p>
            <a:r>
              <a:rPr lang="fr-FR" sz="1200" b="0" kern="1200" dirty="0">
                <a:solidFill>
                  <a:schemeClr val="tx1"/>
                </a:solidFill>
                <a:effectLst/>
                <a:latin typeface="+mn-lt"/>
                <a:ea typeface="+mn-ea"/>
                <a:cs typeface="+mn-cs"/>
              </a:rPr>
              <a:t>- </a:t>
            </a:r>
            <a:r>
              <a:rPr lang="fr-FR" sz="1200" b="0" kern="1200" dirty="0" err="1">
                <a:solidFill>
                  <a:schemeClr val="tx1"/>
                </a:solidFill>
                <a:effectLst/>
                <a:latin typeface="+mn-lt"/>
                <a:ea typeface="+mn-ea"/>
                <a:cs typeface="+mn-cs"/>
              </a:rPr>
              <a:t>Sincerité</a:t>
            </a:r>
            <a:r>
              <a:rPr lang="fr-FR" sz="1200" b="0" kern="1200" dirty="0">
                <a:solidFill>
                  <a:schemeClr val="tx1"/>
                </a:solidFill>
                <a:effectLst/>
                <a:latin typeface="+mn-lt"/>
                <a:ea typeface="+mn-ea"/>
                <a:cs typeface="+mn-cs"/>
              </a:rPr>
              <a:t> (Med = 7.2), Fun (Med = 6.6), Intelligence (Med = 7.4), Ambition (Med = 6.7)</a:t>
            </a:r>
          </a:p>
          <a:p>
            <a:r>
              <a:rPr lang="fr-FR" sz="1200" b="0" kern="1200" dirty="0">
                <a:solidFill>
                  <a:schemeClr val="tx1"/>
                </a:solidFill>
                <a:effectLst/>
                <a:latin typeface="+mn-lt"/>
                <a:ea typeface="+mn-ea"/>
                <a:cs typeface="+mn-cs"/>
              </a:rPr>
              <a:t>- Attractivité (Med = 6.3)</a:t>
            </a:r>
          </a:p>
          <a:p>
            <a:r>
              <a:rPr lang="fr-FR" sz="1200" b="0" kern="1200" dirty="0">
                <a:solidFill>
                  <a:schemeClr val="tx1"/>
                </a:solidFill>
                <a:effectLst/>
                <a:latin typeface="+mn-lt"/>
                <a:ea typeface="+mn-ea"/>
                <a:cs typeface="+mn-cs"/>
              </a:rPr>
              <a:t>- Partage de centres d'intérêt (Med = 5.5)</a:t>
            </a:r>
          </a:p>
          <a:p>
            <a:pPr marL="0" marR="0" lvl="0" indent="0" algn="l" defTabSz="914400" rtl="0" eaLnBrk="1" fontAlgn="auto" latinLnBrk="0" hangingPunct="1">
              <a:lnSpc>
                <a:spcPct val="100000"/>
              </a:lnSpc>
              <a:spcBef>
                <a:spcPts val="0"/>
              </a:spcBef>
              <a:spcAft>
                <a:spcPts val="0"/>
              </a:spcAft>
              <a:buClrTx/>
              <a:buSzTx/>
              <a:buFontTx/>
              <a:buNone/>
              <a:tabLst/>
              <a:defRPr/>
            </a:pPr>
            <a:endParaRPr lang="fr-FR" sz="1200" b="0" kern="1200" dirty="0">
              <a:solidFill>
                <a:schemeClr val="tx1"/>
              </a:solidFill>
              <a:effectLst/>
              <a:latin typeface="+mn-lt"/>
              <a:ea typeface="+mn-ea"/>
              <a:cs typeface="+mn-cs"/>
            </a:endParaRPr>
          </a:p>
          <a:p>
            <a:endParaRPr lang="fr-FR" dirty="0"/>
          </a:p>
        </p:txBody>
      </p:sp>
      <p:sp>
        <p:nvSpPr>
          <p:cNvPr id="4" name="Espace réservé du numéro de diapositive 3"/>
          <p:cNvSpPr>
            <a:spLocks noGrp="1"/>
          </p:cNvSpPr>
          <p:nvPr>
            <p:ph type="sldNum" sz="quarter" idx="5"/>
          </p:nvPr>
        </p:nvSpPr>
        <p:spPr/>
        <p:txBody>
          <a:bodyPr/>
          <a:lstStyle/>
          <a:p>
            <a:fld id="{A4FFB1DF-7BD2-6E49-8024-A7024676CAFB}" type="slidenum">
              <a:rPr lang="fr-FR" smtClean="0"/>
              <a:t>6</a:t>
            </a:fld>
            <a:endParaRPr lang="fr-FR"/>
          </a:p>
        </p:txBody>
      </p:sp>
    </p:spTree>
    <p:extLst>
      <p:ext uri="{BB962C8B-B14F-4D97-AF65-F5344CB8AC3E}">
        <p14:creationId xmlns:p14="http://schemas.microsoft.com/office/powerpoint/2010/main" val="26880005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A4FFB1DF-7BD2-6E49-8024-A7024676CAFB}" type="slidenum">
              <a:rPr lang="fr-FR" smtClean="0"/>
              <a:t>7</a:t>
            </a:fld>
            <a:endParaRPr lang="fr-FR"/>
          </a:p>
        </p:txBody>
      </p:sp>
    </p:spTree>
    <p:extLst>
      <p:ext uri="{BB962C8B-B14F-4D97-AF65-F5344CB8AC3E}">
        <p14:creationId xmlns:p14="http://schemas.microsoft.com/office/powerpoint/2010/main" val="10898449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A4FFB1DF-7BD2-6E49-8024-A7024676CAFB}" type="slidenum">
              <a:rPr lang="fr-FR" smtClean="0"/>
              <a:t>8</a:t>
            </a:fld>
            <a:endParaRPr lang="fr-FR"/>
          </a:p>
        </p:txBody>
      </p:sp>
    </p:spTree>
    <p:extLst>
      <p:ext uri="{BB962C8B-B14F-4D97-AF65-F5344CB8AC3E}">
        <p14:creationId xmlns:p14="http://schemas.microsoft.com/office/powerpoint/2010/main" val="30813837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fld id="{A4FFB1DF-7BD2-6E49-8024-A7024676CAFB}" type="slidenum">
              <a:rPr lang="fr-FR" smtClean="0"/>
              <a:t>9</a:t>
            </a:fld>
            <a:endParaRPr lang="fr-FR"/>
          </a:p>
        </p:txBody>
      </p:sp>
    </p:spTree>
    <p:extLst>
      <p:ext uri="{BB962C8B-B14F-4D97-AF65-F5344CB8AC3E}">
        <p14:creationId xmlns:p14="http://schemas.microsoft.com/office/powerpoint/2010/main" val="29964480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800" b="1" i="0" kern="1200" dirty="0">
                <a:solidFill>
                  <a:schemeClr val="tx1"/>
                </a:solidFill>
                <a:effectLst/>
                <a:latin typeface="+mn-lt"/>
                <a:ea typeface="+mn-ea"/>
                <a:cs typeface="+mn-cs"/>
              </a:rPr>
              <a:t>Controverse autour des algorithmes</a:t>
            </a:r>
          </a:p>
          <a:p>
            <a:pPr fontAlgn="ctr"/>
            <a:r>
              <a:rPr lang="fr-FR" sz="800" b="0" i="0" kern="1200" dirty="0">
                <a:solidFill>
                  <a:schemeClr val="tx1"/>
                </a:solidFill>
                <a:effectLst/>
                <a:latin typeface="+mn-lt"/>
                <a:ea typeface="+mn-ea"/>
                <a:cs typeface="+mn-cs"/>
              </a:rPr>
              <a:t>Les informations figurant dans cette section devraient être mieux reliées aux sources mentionnées en début de section. (décembre 2024)</a:t>
            </a:r>
          </a:p>
          <a:p>
            <a:r>
              <a:rPr lang="fr-FR" sz="800" b="0" i="0" kern="1200" dirty="0">
                <a:solidFill>
                  <a:schemeClr val="tx1"/>
                </a:solidFill>
                <a:effectLst/>
                <a:latin typeface="+mn-lt"/>
                <a:ea typeface="+mn-ea"/>
                <a:cs typeface="+mn-cs"/>
              </a:rPr>
              <a:t>« Tinder décide pour moi qui je peux rencontrer, toucher, aimer, c’est un pouvoir immense sur moi, sur ma vie », écrit Judith Duportail dans son livre </a:t>
            </a:r>
            <a:r>
              <a:rPr lang="fr-FR" sz="800" b="0" i="1" kern="1200" dirty="0">
                <a:solidFill>
                  <a:schemeClr val="tx1"/>
                </a:solidFill>
                <a:effectLst/>
                <a:latin typeface="+mn-lt"/>
                <a:ea typeface="+mn-ea"/>
                <a:cs typeface="+mn-cs"/>
              </a:rPr>
              <a:t>L’Amour sous algorithme</a:t>
            </a:r>
            <a:r>
              <a:rPr lang="fr-FR" sz="800" b="0" i="0" kern="1200" dirty="0">
                <a:solidFill>
                  <a:schemeClr val="tx1"/>
                </a:solidFill>
                <a:effectLst/>
                <a:latin typeface="+mn-lt"/>
                <a:ea typeface="+mn-ea"/>
                <a:cs typeface="+mn-cs"/>
              </a:rPr>
              <a:t>, publié le 21 mars 2019. Cette déclaration a marqué le début d'une controverse médiatisée autour des algorithmes de Tinder. Les enquêtes menées par des médias comme </a:t>
            </a:r>
            <a:r>
              <a:rPr lang="fr-FR" sz="800" b="0" i="1" kern="1200" dirty="0">
                <a:solidFill>
                  <a:schemeClr val="tx1"/>
                </a:solidFill>
                <a:effectLst/>
                <a:latin typeface="+mn-lt"/>
                <a:ea typeface="+mn-ea"/>
                <a:cs typeface="+mn-cs"/>
              </a:rPr>
              <a:t>Le Monde</a:t>
            </a:r>
            <a:r>
              <a:rPr lang="fr-FR" sz="800" b="0" i="0" kern="1200" dirty="0">
                <a:solidFill>
                  <a:schemeClr val="tx1"/>
                </a:solidFill>
                <a:effectLst/>
                <a:latin typeface="+mn-lt"/>
                <a:ea typeface="+mn-ea"/>
                <a:cs typeface="+mn-cs"/>
              </a:rPr>
              <a:t>, </a:t>
            </a:r>
            <a:r>
              <a:rPr lang="fr-FR" sz="800" b="0" i="1" kern="1200" dirty="0">
                <a:solidFill>
                  <a:schemeClr val="tx1"/>
                </a:solidFill>
                <a:effectLst/>
                <a:latin typeface="+mn-lt"/>
                <a:ea typeface="+mn-ea"/>
                <a:cs typeface="+mn-cs"/>
              </a:rPr>
              <a:t>The Guardian</a:t>
            </a:r>
            <a:r>
              <a:rPr lang="fr-FR" sz="800" b="0" i="0" kern="1200" dirty="0">
                <a:solidFill>
                  <a:schemeClr val="tx1"/>
                </a:solidFill>
                <a:effectLst/>
                <a:latin typeface="+mn-lt"/>
                <a:ea typeface="+mn-ea"/>
                <a:cs typeface="+mn-cs"/>
              </a:rPr>
              <a:t>, et </a:t>
            </a:r>
            <a:r>
              <a:rPr lang="fr-FR" sz="800" b="0" i="1" kern="1200" dirty="0">
                <a:solidFill>
                  <a:schemeClr val="tx1"/>
                </a:solidFill>
                <a:effectLst/>
                <a:latin typeface="+mn-lt"/>
                <a:ea typeface="+mn-ea"/>
                <a:cs typeface="+mn-cs"/>
              </a:rPr>
              <a:t>Le Temps</a:t>
            </a:r>
            <a:r>
              <a:rPr lang="fr-FR" sz="800" b="0" i="0" kern="1200" dirty="0">
                <a:solidFill>
                  <a:schemeClr val="tx1"/>
                </a:solidFill>
                <a:effectLst/>
                <a:latin typeface="+mn-lt"/>
                <a:ea typeface="+mn-ea"/>
                <a:cs typeface="+mn-cs"/>
              </a:rPr>
              <a:t> ont relayé les critiques de la journaliste après qu'elle a demandé à Tinder une copie de ses données personnelles, une demande que tout utilisateur peut faire. Duportail a reçu un document détaillant ses informations privées et ses conversations, stockées sur les serveurs de l’entreprise, révélant des pratiques perçues comme intrusives. L'investigation de Judith Duportail a véritablement pris forme lorsqu'elle a découvert l'existence de l'Elo score, un algorithme influençant les profils proposés aux utilisateurs en fonction de leur "succès" sur l'application. Selon Duportail, cet algorithme, créé par des ingénieurs masculins, renforce des stéréotypes de genre et des inégalités socio-économiques. Toutefois, Tinder a rapidement contesté ces allégations, déclarant que l’algorithme ne prenait pas en compte des facteurs comme le revenu des utilisateurs.</a:t>
            </a:r>
          </a:p>
          <a:p>
            <a:r>
              <a:rPr lang="fr-FR" sz="800" b="0" i="0" kern="1200" dirty="0">
                <a:solidFill>
                  <a:schemeClr val="tx1"/>
                </a:solidFill>
                <a:effectLst/>
                <a:latin typeface="+mn-lt"/>
                <a:ea typeface="+mn-ea"/>
                <a:cs typeface="+mn-cs"/>
              </a:rPr>
              <a:t>À la suite de cette polémique, plusieurs chercheurs se sont penchés sur la question des algorithmes de Tinder. Parmi eux, Jessica Pidoux a publié l'article « Toi et moi, une distance calculée », qui approfondit les critiques sur l'influence des algorithmes sur les relations sociales. Igor </a:t>
            </a:r>
            <a:r>
              <a:rPr lang="fr-FR" sz="800" b="0" i="0" kern="1200" dirty="0" err="1">
                <a:solidFill>
                  <a:schemeClr val="tx1"/>
                </a:solidFill>
                <a:effectLst/>
                <a:latin typeface="+mn-lt"/>
                <a:ea typeface="+mn-ea"/>
                <a:cs typeface="+mn-cs"/>
              </a:rPr>
              <a:t>Galligo</a:t>
            </a:r>
            <a:r>
              <a:rPr lang="fr-FR" sz="800" b="0" i="0" kern="1200" dirty="0">
                <a:solidFill>
                  <a:schemeClr val="tx1"/>
                </a:solidFill>
                <a:effectLst/>
                <a:latin typeface="+mn-lt"/>
                <a:ea typeface="+mn-ea"/>
                <a:cs typeface="+mn-cs"/>
              </a:rPr>
              <a:t>, quant à lui, a étudié les liens entre le design d’interaction de l’application et la formation du désir. Ces contributions ont alimenté un débat académique sur les implications des algorithmes de Tinder, bien qu’une controverse scientifique subsiste quant à l’étendue réelle de leur impact : </a:t>
            </a:r>
          </a:p>
          <a:p>
            <a:endParaRPr lang="fr-FR" sz="800" b="0" i="0" kern="1200" dirty="0">
              <a:solidFill>
                <a:schemeClr val="tx1"/>
              </a:solidFill>
              <a:effectLst/>
              <a:latin typeface="+mn-lt"/>
              <a:ea typeface="+mn-ea"/>
              <a:cs typeface="+mn-cs"/>
            </a:endParaRPr>
          </a:p>
          <a:p>
            <a:r>
              <a:rPr lang="fr-FR" sz="800" b="0" i="0" kern="1200" dirty="0">
                <a:solidFill>
                  <a:schemeClr val="tx1"/>
                </a:solidFill>
                <a:effectLst/>
                <a:latin typeface="+mn-lt"/>
                <a:ea typeface="+mn-ea"/>
                <a:cs typeface="+mn-cs"/>
              </a:rPr>
              <a:t>https://</a:t>
            </a:r>
            <a:r>
              <a:rPr lang="fr-FR" sz="800" b="0" i="0" kern="1200" dirty="0" err="1">
                <a:solidFill>
                  <a:schemeClr val="tx1"/>
                </a:solidFill>
                <a:effectLst/>
                <a:latin typeface="+mn-lt"/>
                <a:ea typeface="+mn-ea"/>
                <a:cs typeface="+mn-cs"/>
              </a:rPr>
              <a:t>www.huffingtonpost.fr</a:t>
            </a:r>
            <a:r>
              <a:rPr lang="fr-FR" sz="800" b="0" i="0" kern="1200" dirty="0">
                <a:solidFill>
                  <a:schemeClr val="tx1"/>
                </a:solidFill>
                <a:effectLst/>
                <a:latin typeface="+mn-lt"/>
                <a:ea typeface="+mn-ea"/>
                <a:cs typeface="+mn-cs"/>
              </a:rPr>
              <a:t>/life/article/sur-tinder-moins-vous-etes-beau-moins-vous-risquez-de-croiser-quelqu-un-de-beau_191600.html</a:t>
            </a:r>
          </a:p>
          <a:p>
            <a:endParaRPr lang="fr-FR" sz="800" b="0" i="0" kern="1200" dirty="0">
              <a:solidFill>
                <a:schemeClr val="tx1"/>
              </a:solidFill>
              <a:effectLst/>
              <a:latin typeface="+mn-lt"/>
              <a:ea typeface="+mn-ea"/>
              <a:cs typeface="+mn-cs"/>
            </a:endParaRPr>
          </a:p>
          <a:p>
            <a:endParaRPr lang="fr-FR" sz="800" b="0" i="0" u="none" strike="noStrike" kern="1200" dirty="0">
              <a:solidFill>
                <a:schemeClr val="tx1"/>
              </a:solidFill>
              <a:effectLst/>
              <a:latin typeface="+mn-lt"/>
              <a:ea typeface="+mn-ea"/>
              <a:cs typeface="+mn-cs"/>
            </a:endParaRPr>
          </a:p>
          <a:p>
            <a:endParaRPr lang="fr-FR" sz="800" b="0" i="0" u="none" strike="noStrike" kern="1200" dirty="0">
              <a:solidFill>
                <a:schemeClr val="tx1"/>
              </a:solidFill>
              <a:effectLst/>
              <a:latin typeface="+mn-lt"/>
              <a:ea typeface="+mn-ea"/>
              <a:cs typeface="+mn-cs"/>
            </a:endParaRPr>
          </a:p>
          <a:p>
            <a:endParaRPr lang="fr-FR" sz="800" b="0" i="0" kern="1200" dirty="0">
              <a:solidFill>
                <a:schemeClr val="tx1"/>
              </a:solidFill>
              <a:effectLst/>
              <a:latin typeface="+mn-lt"/>
              <a:ea typeface="+mn-ea"/>
              <a:cs typeface="+mn-cs"/>
            </a:endParaRPr>
          </a:p>
          <a:p>
            <a:endParaRPr lang="fr-FR" dirty="0"/>
          </a:p>
        </p:txBody>
      </p:sp>
      <p:sp>
        <p:nvSpPr>
          <p:cNvPr id="4" name="Espace réservé du numéro de diapositive 3"/>
          <p:cNvSpPr>
            <a:spLocks noGrp="1"/>
          </p:cNvSpPr>
          <p:nvPr>
            <p:ph type="sldNum" sz="quarter" idx="5"/>
          </p:nvPr>
        </p:nvSpPr>
        <p:spPr/>
        <p:txBody>
          <a:bodyPr/>
          <a:lstStyle/>
          <a:p>
            <a:fld id="{A4FFB1DF-7BD2-6E49-8024-A7024676CAFB}" type="slidenum">
              <a:rPr lang="fr-FR" smtClean="0"/>
              <a:t>10</a:t>
            </a:fld>
            <a:endParaRPr lang="fr-FR"/>
          </a:p>
        </p:txBody>
      </p:sp>
    </p:spTree>
    <p:extLst>
      <p:ext uri="{BB962C8B-B14F-4D97-AF65-F5344CB8AC3E}">
        <p14:creationId xmlns:p14="http://schemas.microsoft.com/office/powerpoint/2010/main" val="40638649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bg>
      <p:bgPr>
        <a:solidFill>
          <a:srgbClr val="F35152"/>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48976BA-F92D-674D-F156-486F2E22597E}"/>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8360E8D6-2F23-7B27-5908-6E5DAAF9E9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02A54D4E-425D-9BCF-EE8B-8589EF937D86}"/>
              </a:ext>
            </a:extLst>
          </p:cNvPr>
          <p:cNvSpPr>
            <a:spLocks noGrp="1"/>
          </p:cNvSpPr>
          <p:nvPr>
            <p:ph type="dt" sz="half" idx="10"/>
          </p:nvPr>
        </p:nvSpPr>
        <p:spPr/>
        <p:txBody>
          <a:bodyPr/>
          <a:lstStyle/>
          <a:p>
            <a:fld id="{1FB325AF-43BB-8F45-81A5-0F20EBD10CAF}" type="datetimeFigureOut">
              <a:rPr lang="fr-FR" smtClean="0"/>
              <a:t>12/02/2026</a:t>
            </a:fld>
            <a:endParaRPr lang="fr-FR"/>
          </a:p>
        </p:txBody>
      </p:sp>
      <p:sp>
        <p:nvSpPr>
          <p:cNvPr id="5" name="Espace réservé du pied de page 4">
            <a:extLst>
              <a:ext uri="{FF2B5EF4-FFF2-40B4-BE49-F238E27FC236}">
                <a16:creationId xmlns:a16="http://schemas.microsoft.com/office/drawing/2014/main" id="{3A360A4A-1115-D294-88C8-C2321CC0530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9D153A1E-0500-58A6-83E2-8A4036C94DDC}"/>
              </a:ext>
            </a:extLst>
          </p:cNvPr>
          <p:cNvSpPr>
            <a:spLocks noGrp="1"/>
          </p:cNvSpPr>
          <p:nvPr>
            <p:ph type="sldNum" sz="quarter" idx="12"/>
          </p:nvPr>
        </p:nvSpPr>
        <p:spPr/>
        <p:txBody>
          <a:bodyPr/>
          <a:lstStyle/>
          <a:p>
            <a:fld id="{722E7BB8-153E-0C41-973C-59DBFE14A0BA}" type="slidenum">
              <a:rPr lang="fr-FR" smtClean="0"/>
              <a:t>‹N°›</a:t>
            </a:fld>
            <a:endParaRPr lang="fr-FR"/>
          </a:p>
        </p:txBody>
      </p:sp>
    </p:spTree>
    <p:extLst>
      <p:ext uri="{BB962C8B-B14F-4D97-AF65-F5344CB8AC3E}">
        <p14:creationId xmlns:p14="http://schemas.microsoft.com/office/powerpoint/2010/main" val="24434338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09140E-C643-4169-03B3-55227F11A2DD}"/>
              </a:ext>
            </a:extLst>
          </p:cNvPr>
          <p:cNvSpPr>
            <a:spLocks noGrp="1"/>
          </p:cNvSpPr>
          <p:nvPr>
            <p:ph type="title"/>
          </p:nvPr>
        </p:nvSpPr>
        <p:spPr/>
        <p:txBody>
          <a:bodyPr/>
          <a:lstStyle/>
          <a:p>
            <a:r>
              <a:rPr lang="fr-FR" dirty="0"/>
              <a:t>Modifiez le style du titre</a:t>
            </a:r>
          </a:p>
        </p:txBody>
      </p:sp>
      <p:sp>
        <p:nvSpPr>
          <p:cNvPr id="3" name="Espace réservé du contenu 2">
            <a:extLst>
              <a:ext uri="{FF2B5EF4-FFF2-40B4-BE49-F238E27FC236}">
                <a16:creationId xmlns:a16="http://schemas.microsoft.com/office/drawing/2014/main" id="{DC61091F-3289-BF18-8EB3-5C32EA34FCF4}"/>
              </a:ext>
            </a:extLst>
          </p:cNvPr>
          <p:cNvSpPr>
            <a:spLocks noGrp="1"/>
          </p:cNvSpPr>
          <p:nvPr>
            <p:ph idx="1"/>
          </p:nvPr>
        </p:nvSpPr>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a:extLst>
              <a:ext uri="{FF2B5EF4-FFF2-40B4-BE49-F238E27FC236}">
                <a16:creationId xmlns:a16="http://schemas.microsoft.com/office/drawing/2014/main" id="{C7A9667E-E336-72FA-9CEC-E5134DD83DDC}"/>
              </a:ext>
            </a:extLst>
          </p:cNvPr>
          <p:cNvSpPr>
            <a:spLocks noGrp="1"/>
          </p:cNvSpPr>
          <p:nvPr>
            <p:ph type="dt" sz="half" idx="10"/>
          </p:nvPr>
        </p:nvSpPr>
        <p:spPr/>
        <p:txBody>
          <a:bodyPr/>
          <a:lstStyle/>
          <a:p>
            <a:fld id="{1FB325AF-43BB-8F45-81A5-0F20EBD10CAF}" type="datetimeFigureOut">
              <a:rPr lang="fr-FR" smtClean="0"/>
              <a:t>12/02/2026</a:t>
            </a:fld>
            <a:endParaRPr lang="fr-FR"/>
          </a:p>
        </p:txBody>
      </p:sp>
      <p:sp>
        <p:nvSpPr>
          <p:cNvPr id="5" name="Espace réservé du pied de page 4">
            <a:extLst>
              <a:ext uri="{FF2B5EF4-FFF2-40B4-BE49-F238E27FC236}">
                <a16:creationId xmlns:a16="http://schemas.microsoft.com/office/drawing/2014/main" id="{78F0149E-C02D-9A68-F222-8CB33C1EFEE1}"/>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D849E3A-D696-7B00-D991-00F13533071B}"/>
              </a:ext>
            </a:extLst>
          </p:cNvPr>
          <p:cNvSpPr>
            <a:spLocks noGrp="1"/>
          </p:cNvSpPr>
          <p:nvPr>
            <p:ph type="sldNum" sz="quarter" idx="12"/>
          </p:nvPr>
        </p:nvSpPr>
        <p:spPr/>
        <p:txBody>
          <a:bodyPr/>
          <a:lstStyle/>
          <a:p>
            <a:fld id="{722E7BB8-153E-0C41-973C-59DBFE14A0BA}" type="slidenum">
              <a:rPr lang="fr-FR" smtClean="0"/>
              <a:t>‹N°›</a:t>
            </a:fld>
            <a:endParaRPr lang="fr-FR"/>
          </a:p>
        </p:txBody>
      </p:sp>
    </p:spTree>
    <p:extLst>
      <p:ext uri="{BB962C8B-B14F-4D97-AF65-F5344CB8AC3E}">
        <p14:creationId xmlns:p14="http://schemas.microsoft.com/office/powerpoint/2010/main" val="11988373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B934D0-AC40-EFFE-A3D9-500DB26BAD18}"/>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271E8C2A-7807-325F-6372-336B8E1DB5A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A834A728-29AD-EBDD-71E6-D9ADCEF80E40}"/>
              </a:ext>
            </a:extLst>
          </p:cNvPr>
          <p:cNvSpPr>
            <a:spLocks noGrp="1"/>
          </p:cNvSpPr>
          <p:nvPr>
            <p:ph type="dt" sz="half" idx="10"/>
          </p:nvPr>
        </p:nvSpPr>
        <p:spPr/>
        <p:txBody>
          <a:bodyPr/>
          <a:lstStyle/>
          <a:p>
            <a:fld id="{1FB325AF-43BB-8F45-81A5-0F20EBD10CAF}" type="datetimeFigureOut">
              <a:rPr lang="fr-FR" smtClean="0"/>
              <a:t>12/02/2026</a:t>
            </a:fld>
            <a:endParaRPr lang="fr-FR"/>
          </a:p>
        </p:txBody>
      </p:sp>
      <p:sp>
        <p:nvSpPr>
          <p:cNvPr id="5" name="Espace réservé du pied de page 4">
            <a:extLst>
              <a:ext uri="{FF2B5EF4-FFF2-40B4-BE49-F238E27FC236}">
                <a16:creationId xmlns:a16="http://schemas.microsoft.com/office/drawing/2014/main" id="{6F0BAA75-3EAA-2014-2BD9-0C85BB26058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5EC1E7F-C273-7BA8-00CB-16834A7CFB99}"/>
              </a:ext>
            </a:extLst>
          </p:cNvPr>
          <p:cNvSpPr>
            <a:spLocks noGrp="1"/>
          </p:cNvSpPr>
          <p:nvPr>
            <p:ph type="sldNum" sz="quarter" idx="12"/>
          </p:nvPr>
        </p:nvSpPr>
        <p:spPr/>
        <p:txBody>
          <a:bodyPr/>
          <a:lstStyle/>
          <a:p>
            <a:fld id="{722E7BB8-153E-0C41-973C-59DBFE14A0BA}" type="slidenum">
              <a:rPr lang="fr-FR" smtClean="0"/>
              <a:t>‹N°›</a:t>
            </a:fld>
            <a:endParaRPr lang="fr-FR"/>
          </a:p>
        </p:txBody>
      </p:sp>
    </p:spTree>
    <p:extLst>
      <p:ext uri="{BB962C8B-B14F-4D97-AF65-F5344CB8AC3E}">
        <p14:creationId xmlns:p14="http://schemas.microsoft.com/office/powerpoint/2010/main" val="21730542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94F514-C076-25CF-30BF-9704A3EFE05B}"/>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9AFAA238-81BB-D673-2EFE-FEA2457CBE0B}"/>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496A6D72-328D-6D1B-769A-DC5FD331CB38}"/>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4D688C75-F905-36B8-D274-185BADC8C8C7}"/>
              </a:ext>
            </a:extLst>
          </p:cNvPr>
          <p:cNvSpPr>
            <a:spLocks noGrp="1"/>
          </p:cNvSpPr>
          <p:nvPr>
            <p:ph type="dt" sz="half" idx="10"/>
          </p:nvPr>
        </p:nvSpPr>
        <p:spPr/>
        <p:txBody>
          <a:bodyPr/>
          <a:lstStyle/>
          <a:p>
            <a:fld id="{1FB325AF-43BB-8F45-81A5-0F20EBD10CAF}" type="datetimeFigureOut">
              <a:rPr lang="fr-FR" smtClean="0"/>
              <a:t>12/02/2026</a:t>
            </a:fld>
            <a:endParaRPr lang="fr-FR"/>
          </a:p>
        </p:txBody>
      </p:sp>
      <p:sp>
        <p:nvSpPr>
          <p:cNvPr id="6" name="Espace réservé du pied de page 5">
            <a:extLst>
              <a:ext uri="{FF2B5EF4-FFF2-40B4-BE49-F238E27FC236}">
                <a16:creationId xmlns:a16="http://schemas.microsoft.com/office/drawing/2014/main" id="{E5C73A91-2FC2-D015-1F7A-86EF2759DA2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9665C8FE-8367-50A8-8DDB-BE9C9CBD587C}"/>
              </a:ext>
            </a:extLst>
          </p:cNvPr>
          <p:cNvSpPr>
            <a:spLocks noGrp="1"/>
          </p:cNvSpPr>
          <p:nvPr>
            <p:ph type="sldNum" sz="quarter" idx="12"/>
          </p:nvPr>
        </p:nvSpPr>
        <p:spPr/>
        <p:txBody>
          <a:bodyPr/>
          <a:lstStyle/>
          <a:p>
            <a:fld id="{722E7BB8-153E-0C41-973C-59DBFE14A0BA}" type="slidenum">
              <a:rPr lang="fr-FR" smtClean="0"/>
              <a:t>‹N°›</a:t>
            </a:fld>
            <a:endParaRPr lang="fr-FR"/>
          </a:p>
        </p:txBody>
      </p:sp>
    </p:spTree>
    <p:extLst>
      <p:ext uri="{BB962C8B-B14F-4D97-AF65-F5344CB8AC3E}">
        <p14:creationId xmlns:p14="http://schemas.microsoft.com/office/powerpoint/2010/main" val="8292876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C5BAB1B-FDEC-C30E-B6D4-CE0D9304CC32}"/>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FDC54C6D-0C22-C4E7-7E39-D00CA9E0CDE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CEF0A1E3-7DAB-3C79-893B-E8E1D33C149C}"/>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3CA47844-F330-CABE-398A-92A6FC63AC1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1B95D3B3-7E76-8925-7AE6-F46FDF44F5E1}"/>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9FBCD2BD-6C37-A7F3-3723-E9EF65B000D4}"/>
              </a:ext>
            </a:extLst>
          </p:cNvPr>
          <p:cNvSpPr>
            <a:spLocks noGrp="1"/>
          </p:cNvSpPr>
          <p:nvPr>
            <p:ph type="dt" sz="half" idx="10"/>
          </p:nvPr>
        </p:nvSpPr>
        <p:spPr/>
        <p:txBody>
          <a:bodyPr/>
          <a:lstStyle/>
          <a:p>
            <a:fld id="{1FB325AF-43BB-8F45-81A5-0F20EBD10CAF}" type="datetimeFigureOut">
              <a:rPr lang="fr-FR" smtClean="0"/>
              <a:t>12/02/2026</a:t>
            </a:fld>
            <a:endParaRPr lang="fr-FR"/>
          </a:p>
        </p:txBody>
      </p:sp>
      <p:sp>
        <p:nvSpPr>
          <p:cNvPr id="8" name="Espace réservé du pied de page 7">
            <a:extLst>
              <a:ext uri="{FF2B5EF4-FFF2-40B4-BE49-F238E27FC236}">
                <a16:creationId xmlns:a16="http://schemas.microsoft.com/office/drawing/2014/main" id="{FDC2C2D9-E08B-7F32-A6CD-BB769F0DE752}"/>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FF2CA5B7-A46D-4443-9989-73B867D86BF2}"/>
              </a:ext>
            </a:extLst>
          </p:cNvPr>
          <p:cNvSpPr>
            <a:spLocks noGrp="1"/>
          </p:cNvSpPr>
          <p:nvPr>
            <p:ph type="sldNum" sz="quarter" idx="12"/>
          </p:nvPr>
        </p:nvSpPr>
        <p:spPr/>
        <p:txBody>
          <a:bodyPr/>
          <a:lstStyle/>
          <a:p>
            <a:fld id="{722E7BB8-153E-0C41-973C-59DBFE14A0BA}" type="slidenum">
              <a:rPr lang="fr-FR" smtClean="0"/>
              <a:t>‹N°›</a:t>
            </a:fld>
            <a:endParaRPr lang="fr-FR"/>
          </a:p>
        </p:txBody>
      </p:sp>
    </p:spTree>
    <p:extLst>
      <p:ext uri="{BB962C8B-B14F-4D97-AF65-F5344CB8AC3E}">
        <p14:creationId xmlns:p14="http://schemas.microsoft.com/office/powerpoint/2010/main" val="27733792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985C63E-EC05-7276-FF59-521F801EDD39}"/>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0B76C675-5192-2FEF-EFC6-7E4B270A1A99}"/>
              </a:ext>
            </a:extLst>
          </p:cNvPr>
          <p:cNvSpPr>
            <a:spLocks noGrp="1"/>
          </p:cNvSpPr>
          <p:nvPr>
            <p:ph type="dt" sz="half" idx="10"/>
          </p:nvPr>
        </p:nvSpPr>
        <p:spPr/>
        <p:txBody>
          <a:bodyPr/>
          <a:lstStyle/>
          <a:p>
            <a:fld id="{1FB325AF-43BB-8F45-81A5-0F20EBD10CAF}" type="datetimeFigureOut">
              <a:rPr lang="fr-FR" smtClean="0"/>
              <a:t>12/02/2026</a:t>
            </a:fld>
            <a:endParaRPr lang="fr-FR"/>
          </a:p>
        </p:txBody>
      </p:sp>
      <p:sp>
        <p:nvSpPr>
          <p:cNvPr id="4" name="Espace réservé du pied de page 3">
            <a:extLst>
              <a:ext uri="{FF2B5EF4-FFF2-40B4-BE49-F238E27FC236}">
                <a16:creationId xmlns:a16="http://schemas.microsoft.com/office/drawing/2014/main" id="{A63D53D2-4582-AEB6-B4E3-E24F585F7B83}"/>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FA1445DE-A12A-A519-5ACD-BC6E5FDE8CBC}"/>
              </a:ext>
            </a:extLst>
          </p:cNvPr>
          <p:cNvSpPr>
            <a:spLocks noGrp="1"/>
          </p:cNvSpPr>
          <p:nvPr>
            <p:ph type="sldNum" sz="quarter" idx="12"/>
          </p:nvPr>
        </p:nvSpPr>
        <p:spPr/>
        <p:txBody>
          <a:bodyPr/>
          <a:lstStyle/>
          <a:p>
            <a:fld id="{722E7BB8-153E-0C41-973C-59DBFE14A0BA}" type="slidenum">
              <a:rPr lang="fr-FR" smtClean="0"/>
              <a:t>‹N°›</a:t>
            </a:fld>
            <a:endParaRPr lang="fr-FR"/>
          </a:p>
        </p:txBody>
      </p:sp>
    </p:spTree>
    <p:extLst>
      <p:ext uri="{BB962C8B-B14F-4D97-AF65-F5344CB8AC3E}">
        <p14:creationId xmlns:p14="http://schemas.microsoft.com/office/powerpoint/2010/main" val="31045494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E6FB6876-0BC9-AD8B-1A6B-D99AE077DFF7}"/>
              </a:ext>
            </a:extLst>
          </p:cNvPr>
          <p:cNvSpPr>
            <a:spLocks noGrp="1"/>
          </p:cNvSpPr>
          <p:nvPr>
            <p:ph type="dt" sz="half" idx="10"/>
          </p:nvPr>
        </p:nvSpPr>
        <p:spPr/>
        <p:txBody>
          <a:bodyPr/>
          <a:lstStyle/>
          <a:p>
            <a:fld id="{1FB325AF-43BB-8F45-81A5-0F20EBD10CAF}" type="datetimeFigureOut">
              <a:rPr lang="fr-FR" smtClean="0"/>
              <a:t>12/02/2026</a:t>
            </a:fld>
            <a:endParaRPr lang="fr-FR"/>
          </a:p>
        </p:txBody>
      </p:sp>
      <p:sp>
        <p:nvSpPr>
          <p:cNvPr id="3" name="Espace réservé du pied de page 2">
            <a:extLst>
              <a:ext uri="{FF2B5EF4-FFF2-40B4-BE49-F238E27FC236}">
                <a16:creationId xmlns:a16="http://schemas.microsoft.com/office/drawing/2014/main" id="{69F139B7-CFB6-5AB1-380F-A7674294D11D}"/>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EC9CA365-09C3-8F60-ADF7-B8AE627BAB16}"/>
              </a:ext>
            </a:extLst>
          </p:cNvPr>
          <p:cNvSpPr>
            <a:spLocks noGrp="1"/>
          </p:cNvSpPr>
          <p:nvPr>
            <p:ph type="sldNum" sz="quarter" idx="12"/>
          </p:nvPr>
        </p:nvSpPr>
        <p:spPr/>
        <p:txBody>
          <a:bodyPr/>
          <a:lstStyle/>
          <a:p>
            <a:fld id="{722E7BB8-153E-0C41-973C-59DBFE14A0BA}" type="slidenum">
              <a:rPr lang="fr-FR" smtClean="0"/>
              <a:t>‹N°›</a:t>
            </a:fld>
            <a:endParaRPr lang="fr-FR"/>
          </a:p>
        </p:txBody>
      </p:sp>
    </p:spTree>
    <p:extLst>
      <p:ext uri="{BB962C8B-B14F-4D97-AF65-F5344CB8AC3E}">
        <p14:creationId xmlns:p14="http://schemas.microsoft.com/office/powerpoint/2010/main" val="35496022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70A32C0-89BB-C252-D770-D379E94D8D5A}"/>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8FF65499-DDB9-4CCB-F02B-401EEE46286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AA18A390-E484-3FF7-0BBB-22D5A3ECC0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BC6E925-2AEF-6A8B-657F-1A7FB19BCF90}"/>
              </a:ext>
            </a:extLst>
          </p:cNvPr>
          <p:cNvSpPr>
            <a:spLocks noGrp="1"/>
          </p:cNvSpPr>
          <p:nvPr>
            <p:ph type="dt" sz="half" idx="10"/>
          </p:nvPr>
        </p:nvSpPr>
        <p:spPr/>
        <p:txBody>
          <a:bodyPr/>
          <a:lstStyle/>
          <a:p>
            <a:fld id="{1FB325AF-43BB-8F45-81A5-0F20EBD10CAF}" type="datetimeFigureOut">
              <a:rPr lang="fr-FR" smtClean="0"/>
              <a:t>12/02/2026</a:t>
            </a:fld>
            <a:endParaRPr lang="fr-FR"/>
          </a:p>
        </p:txBody>
      </p:sp>
      <p:sp>
        <p:nvSpPr>
          <p:cNvPr id="6" name="Espace réservé du pied de page 5">
            <a:extLst>
              <a:ext uri="{FF2B5EF4-FFF2-40B4-BE49-F238E27FC236}">
                <a16:creationId xmlns:a16="http://schemas.microsoft.com/office/drawing/2014/main" id="{508093A5-FB68-33E7-658E-478C68DE6228}"/>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C31F1D7-3D78-978E-BDA0-D1FBD6195C46}"/>
              </a:ext>
            </a:extLst>
          </p:cNvPr>
          <p:cNvSpPr>
            <a:spLocks noGrp="1"/>
          </p:cNvSpPr>
          <p:nvPr>
            <p:ph type="sldNum" sz="quarter" idx="12"/>
          </p:nvPr>
        </p:nvSpPr>
        <p:spPr/>
        <p:txBody>
          <a:bodyPr/>
          <a:lstStyle/>
          <a:p>
            <a:fld id="{722E7BB8-153E-0C41-973C-59DBFE14A0BA}" type="slidenum">
              <a:rPr lang="fr-FR" smtClean="0"/>
              <a:t>‹N°›</a:t>
            </a:fld>
            <a:endParaRPr lang="fr-FR"/>
          </a:p>
        </p:txBody>
      </p:sp>
    </p:spTree>
    <p:extLst>
      <p:ext uri="{BB962C8B-B14F-4D97-AF65-F5344CB8AC3E}">
        <p14:creationId xmlns:p14="http://schemas.microsoft.com/office/powerpoint/2010/main" val="12734223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B6EA0B-6806-9ABB-F954-704F556C4F39}"/>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003DE4D4-7502-2C49-5EA2-C34E635A8C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4E3E3035-E1ED-30DB-1BDA-3270368AD5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41B7E2B-03FD-2C3D-9242-AD0FCA357AA1}"/>
              </a:ext>
            </a:extLst>
          </p:cNvPr>
          <p:cNvSpPr>
            <a:spLocks noGrp="1"/>
          </p:cNvSpPr>
          <p:nvPr>
            <p:ph type="dt" sz="half" idx="10"/>
          </p:nvPr>
        </p:nvSpPr>
        <p:spPr/>
        <p:txBody>
          <a:bodyPr/>
          <a:lstStyle/>
          <a:p>
            <a:fld id="{1FB325AF-43BB-8F45-81A5-0F20EBD10CAF}" type="datetimeFigureOut">
              <a:rPr lang="fr-FR" smtClean="0"/>
              <a:t>12/02/2026</a:t>
            </a:fld>
            <a:endParaRPr lang="fr-FR"/>
          </a:p>
        </p:txBody>
      </p:sp>
      <p:sp>
        <p:nvSpPr>
          <p:cNvPr id="6" name="Espace réservé du pied de page 5">
            <a:extLst>
              <a:ext uri="{FF2B5EF4-FFF2-40B4-BE49-F238E27FC236}">
                <a16:creationId xmlns:a16="http://schemas.microsoft.com/office/drawing/2014/main" id="{51E65DB7-E3E0-2F85-4108-D372850B452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738F07F-6F8A-0D3C-7B74-DCD96013816C}"/>
              </a:ext>
            </a:extLst>
          </p:cNvPr>
          <p:cNvSpPr>
            <a:spLocks noGrp="1"/>
          </p:cNvSpPr>
          <p:nvPr>
            <p:ph type="sldNum" sz="quarter" idx="12"/>
          </p:nvPr>
        </p:nvSpPr>
        <p:spPr/>
        <p:txBody>
          <a:bodyPr/>
          <a:lstStyle/>
          <a:p>
            <a:fld id="{722E7BB8-153E-0C41-973C-59DBFE14A0BA}" type="slidenum">
              <a:rPr lang="fr-FR" smtClean="0"/>
              <a:t>‹N°›</a:t>
            </a:fld>
            <a:endParaRPr lang="fr-FR"/>
          </a:p>
        </p:txBody>
      </p:sp>
    </p:spTree>
    <p:extLst>
      <p:ext uri="{BB962C8B-B14F-4D97-AF65-F5344CB8AC3E}">
        <p14:creationId xmlns:p14="http://schemas.microsoft.com/office/powerpoint/2010/main" val="39806521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E4A57BD-34A2-544F-B258-D282696CA3CB}"/>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2400CEE9-FE61-3D1C-1009-E7D5DFEE2EAE}"/>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A6FD1F7-9904-8DE6-2F0C-BD003F7CD7B7}"/>
              </a:ext>
            </a:extLst>
          </p:cNvPr>
          <p:cNvSpPr>
            <a:spLocks noGrp="1"/>
          </p:cNvSpPr>
          <p:nvPr>
            <p:ph type="dt" sz="half" idx="10"/>
          </p:nvPr>
        </p:nvSpPr>
        <p:spPr/>
        <p:txBody>
          <a:bodyPr/>
          <a:lstStyle/>
          <a:p>
            <a:fld id="{1FB325AF-43BB-8F45-81A5-0F20EBD10CAF}" type="datetimeFigureOut">
              <a:rPr lang="fr-FR" smtClean="0"/>
              <a:t>12/02/2026</a:t>
            </a:fld>
            <a:endParaRPr lang="fr-FR"/>
          </a:p>
        </p:txBody>
      </p:sp>
      <p:sp>
        <p:nvSpPr>
          <p:cNvPr id="5" name="Espace réservé du pied de page 4">
            <a:extLst>
              <a:ext uri="{FF2B5EF4-FFF2-40B4-BE49-F238E27FC236}">
                <a16:creationId xmlns:a16="http://schemas.microsoft.com/office/drawing/2014/main" id="{FC95E8AA-9714-0674-8720-6D575BE08E6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C85475C-FBA7-93F2-AE6F-BB5A89402E77}"/>
              </a:ext>
            </a:extLst>
          </p:cNvPr>
          <p:cNvSpPr>
            <a:spLocks noGrp="1"/>
          </p:cNvSpPr>
          <p:nvPr>
            <p:ph type="sldNum" sz="quarter" idx="12"/>
          </p:nvPr>
        </p:nvSpPr>
        <p:spPr/>
        <p:txBody>
          <a:bodyPr/>
          <a:lstStyle/>
          <a:p>
            <a:fld id="{722E7BB8-153E-0C41-973C-59DBFE14A0BA}" type="slidenum">
              <a:rPr lang="fr-FR" smtClean="0"/>
              <a:t>‹N°›</a:t>
            </a:fld>
            <a:endParaRPr lang="fr-FR"/>
          </a:p>
        </p:txBody>
      </p:sp>
    </p:spTree>
    <p:extLst>
      <p:ext uri="{BB962C8B-B14F-4D97-AF65-F5344CB8AC3E}">
        <p14:creationId xmlns:p14="http://schemas.microsoft.com/office/powerpoint/2010/main" val="15307119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1A5C7878-B75F-78FA-6896-A389F3F7A1CC}"/>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F4351CFE-8C39-9CAF-E633-596A6A284606}"/>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90D34A8-C640-42A1-225B-C1EEF2444665}"/>
              </a:ext>
            </a:extLst>
          </p:cNvPr>
          <p:cNvSpPr>
            <a:spLocks noGrp="1"/>
          </p:cNvSpPr>
          <p:nvPr>
            <p:ph type="dt" sz="half" idx="10"/>
          </p:nvPr>
        </p:nvSpPr>
        <p:spPr/>
        <p:txBody>
          <a:bodyPr/>
          <a:lstStyle/>
          <a:p>
            <a:fld id="{1FB325AF-43BB-8F45-81A5-0F20EBD10CAF}" type="datetimeFigureOut">
              <a:rPr lang="fr-FR" smtClean="0"/>
              <a:t>12/02/2026</a:t>
            </a:fld>
            <a:endParaRPr lang="fr-FR"/>
          </a:p>
        </p:txBody>
      </p:sp>
      <p:sp>
        <p:nvSpPr>
          <p:cNvPr id="5" name="Espace réservé du pied de page 4">
            <a:extLst>
              <a:ext uri="{FF2B5EF4-FFF2-40B4-BE49-F238E27FC236}">
                <a16:creationId xmlns:a16="http://schemas.microsoft.com/office/drawing/2014/main" id="{298F1898-5B09-EA97-4FDC-73DCD4CE64A5}"/>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C28F38E2-3FA8-1B6E-F177-A29462088A36}"/>
              </a:ext>
            </a:extLst>
          </p:cNvPr>
          <p:cNvSpPr>
            <a:spLocks noGrp="1"/>
          </p:cNvSpPr>
          <p:nvPr>
            <p:ph type="sldNum" sz="quarter" idx="12"/>
          </p:nvPr>
        </p:nvSpPr>
        <p:spPr/>
        <p:txBody>
          <a:bodyPr/>
          <a:lstStyle/>
          <a:p>
            <a:fld id="{722E7BB8-153E-0C41-973C-59DBFE14A0BA}" type="slidenum">
              <a:rPr lang="fr-FR" smtClean="0"/>
              <a:t>‹N°›</a:t>
            </a:fld>
            <a:endParaRPr lang="fr-FR"/>
          </a:p>
        </p:txBody>
      </p:sp>
    </p:spTree>
    <p:extLst>
      <p:ext uri="{BB962C8B-B14F-4D97-AF65-F5344CB8AC3E}">
        <p14:creationId xmlns:p14="http://schemas.microsoft.com/office/powerpoint/2010/main" val="13519897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5152"/>
        </a:solidFill>
        <a:effectLst/>
      </p:bgPr>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7C0A67E4-9AAC-D8B3-E73E-96F9C0404D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dirty="0"/>
              <a:t>Modifiez le style du titre</a:t>
            </a:r>
          </a:p>
        </p:txBody>
      </p:sp>
      <p:sp>
        <p:nvSpPr>
          <p:cNvPr id="3" name="Espace réservé du texte 2">
            <a:extLst>
              <a:ext uri="{FF2B5EF4-FFF2-40B4-BE49-F238E27FC236}">
                <a16:creationId xmlns:a16="http://schemas.microsoft.com/office/drawing/2014/main" id="{1E545F6F-B854-C48E-84F5-DA0D83D9017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a:extLst>
              <a:ext uri="{FF2B5EF4-FFF2-40B4-BE49-F238E27FC236}">
                <a16:creationId xmlns:a16="http://schemas.microsoft.com/office/drawing/2014/main" id="{EFFF84BE-5FB4-779E-83AE-2187282745E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FB325AF-43BB-8F45-81A5-0F20EBD10CAF}" type="datetimeFigureOut">
              <a:rPr lang="fr-FR" smtClean="0"/>
              <a:t>12/02/2026</a:t>
            </a:fld>
            <a:endParaRPr lang="fr-FR"/>
          </a:p>
        </p:txBody>
      </p:sp>
      <p:sp>
        <p:nvSpPr>
          <p:cNvPr id="5" name="Espace réservé du pied de page 4">
            <a:extLst>
              <a:ext uri="{FF2B5EF4-FFF2-40B4-BE49-F238E27FC236}">
                <a16:creationId xmlns:a16="http://schemas.microsoft.com/office/drawing/2014/main" id="{F8FEA8A3-F732-C9EB-A742-7BFC30CB2D9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9428A977-381C-A2FF-1C78-EC9A16CD990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22E7BB8-153E-0C41-973C-59DBFE14A0BA}" type="slidenum">
              <a:rPr lang="fr-FR" smtClean="0"/>
              <a:t>‹N°›</a:t>
            </a:fld>
            <a:endParaRPr lang="fr-FR"/>
          </a:p>
        </p:txBody>
      </p:sp>
    </p:spTree>
    <p:extLst>
      <p:ext uri="{BB962C8B-B14F-4D97-AF65-F5344CB8AC3E}">
        <p14:creationId xmlns:p14="http://schemas.microsoft.com/office/powerpoint/2010/main" val="2857294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F03B2B3-6CEC-C25E-0286-4608F8755510}"/>
              </a:ext>
            </a:extLst>
          </p:cNvPr>
          <p:cNvSpPr>
            <a:spLocks noGrp="1"/>
          </p:cNvSpPr>
          <p:nvPr>
            <p:ph type="ctrTitle"/>
          </p:nvPr>
        </p:nvSpPr>
        <p:spPr/>
        <p:txBody>
          <a:bodyPr/>
          <a:lstStyle/>
          <a:p>
            <a:r>
              <a:rPr lang="fr-FR" dirty="0"/>
              <a:t>Speed Dating : </a:t>
            </a:r>
          </a:p>
        </p:txBody>
      </p:sp>
      <p:pic>
        <p:nvPicPr>
          <p:cNvPr id="4" name="Image 3">
            <a:extLst>
              <a:ext uri="{FF2B5EF4-FFF2-40B4-BE49-F238E27FC236}">
                <a16:creationId xmlns:a16="http://schemas.microsoft.com/office/drawing/2014/main" id="{4AE45113-574D-B775-93F7-87873C172358}"/>
              </a:ext>
            </a:extLst>
          </p:cNvPr>
          <p:cNvPicPr>
            <a:picLocks noChangeAspect="1"/>
          </p:cNvPicPr>
          <p:nvPr/>
        </p:nvPicPr>
        <p:blipFill>
          <a:blip r:embed="rId3"/>
          <a:stretch>
            <a:fillRect/>
          </a:stretch>
        </p:blipFill>
        <p:spPr>
          <a:xfrm>
            <a:off x="8426450" y="2316163"/>
            <a:ext cx="3294496" cy="1370703"/>
          </a:xfrm>
          <a:prstGeom prst="rect">
            <a:avLst/>
          </a:prstGeom>
        </p:spPr>
      </p:pic>
    </p:spTree>
    <p:extLst>
      <p:ext uri="{BB962C8B-B14F-4D97-AF65-F5344CB8AC3E}">
        <p14:creationId xmlns:p14="http://schemas.microsoft.com/office/powerpoint/2010/main" val="30466985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5685BB1-8F04-A1C5-6FD8-C007019C8B66}"/>
              </a:ext>
            </a:extLst>
          </p:cNvPr>
          <p:cNvSpPr>
            <a:spLocks noGrp="1"/>
          </p:cNvSpPr>
          <p:nvPr>
            <p:ph type="title"/>
          </p:nvPr>
        </p:nvSpPr>
        <p:spPr/>
        <p:txBody>
          <a:bodyPr/>
          <a:lstStyle/>
          <a:p>
            <a:r>
              <a:rPr lang="fr-FR" dirty="0"/>
              <a:t>Speed Dating – Contexte - Objectifs</a:t>
            </a:r>
          </a:p>
        </p:txBody>
      </p:sp>
      <p:sp>
        <p:nvSpPr>
          <p:cNvPr id="3" name="Espace réservé du contenu 2">
            <a:extLst>
              <a:ext uri="{FF2B5EF4-FFF2-40B4-BE49-F238E27FC236}">
                <a16:creationId xmlns:a16="http://schemas.microsoft.com/office/drawing/2014/main" id="{3D6463FA-F8A6-B31C-06AB-87B013C9C624}"/>
              </a:ext>
            </a:extLst>
          </p:cNvPr>
          <p:cNvSpPr>
            <a:spLocks noGrp="1"/>
          </p:cNvSpPr>
          <p:nvPr>
            <p:ph idx="1"/>
          </p:nvPr>
        </p:nvSpPr>
        <p:spPr/>
        <p:txBody>
          <a:bodyPr/>
          <a:lstStyle/>
          <a:p>
            <a:r>
              <a:rPr lang="fr-FR" dirty="0"/>
              <a:t>Projet Bloc 2 : EDA (</a:t>
            </a:r>
            <a:r>
              <a:rPr lang="fr-FR" dirty="0" err="1"/>
              <a:t>Exploratory</a:t>
            </a:r>
            <a:r>
              <a:rPr lang="fr-FR" dirty="0"/>
              <a:t> Data </a:t>
            </a:r>
            <a:r>
              <a:rPr lang="fr-FR" dirty="0" err="1"/>
              <a:t>Analysis</a:t>
            </a:r>
            <a:r>
              <a:rPr lang="fr-FR" dirty="0"/>
              <a:t>)</a:t>
            </a:r>
          </a:p>
          <a:p>
            <a:r>
              <a:rPr lang="fr-FR" dirty="0"/>
              <a:t>Contexte business réel inspiré de Tinder</a:t>
            </a:r>
          </a:p>
          <a:p>
            <a:r>
              <a:rPr lang="fr-FR" dirty="0"/>
              <a:t>Problématique : baisse du nombre de matchs</a:t>
            </a:r>
          </a:p>
          <a:p>
            <a:r>
              <a:rPr lang="fr-FR" dirty="0"/>
              <a:t>Question clé : qu’est-ce qui déclenche une seconde rencontre ?</a:t>
            </a:r>
          </a:p>
          <a:p>
            <a:endParaRPr lang="fr-FR" dirty="0"/>
          </a:p>
        </p:txBody>
      </p:sp>
      <p:pic>
        <p:nvPicPr>
          <p:cNvPr id="4" name="Image 3">
            <a:extLst>
              <a:ext uri="{FF2B5EF4-FFF2-40B4-BE49-F238E27FC236}">
                <a16:creationId xmlns:a16="http://schemas.microsoft.com/office/drawing/2014/main" id="{3F8DF7E2-7A60-A58F-1CD0-F9AAA9085CCF}"/>
              </a:ext>
            </a:extLst>
          </p:cNvPr>
          <p:cNvPicPr>
            <a:picLocks noChangeAspect="1"/>
          </p:cNvPicPr>
          <p:nvPr/>
        </p:nvPicPr>
        <p:blipFill>
          <a:blip r:embed="rId3"/>
          <a:stretch>
            <a:fillRect/>
          </a:stretch>
        </p:blipFill>
        <p:spPr>
          <a:xfrm>
            <a:off x="2060510" y="4703523"/>
            <a:ext cx="7772400" cy="1473440"/>
          </a:xfrm>
          <a:prstGeom prst="rect">
            <a:avLst/>
          </a:prstGeom>
        </p:spPr>
      </p:pic>
    </p:spTree>
    <p:extLst>
      <p:ext uri="{BB962C8B-B14F-4D97-AF65-F5344CB8AC3E}">
        <p14:creationId xmlns:p14="http://schemas.microsoft.com/office/powerpoint/2010/main" val="11447341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19B7D9-73F7-B494-DCF0-5D529977105C}"/>
              </a:ext>
            </a:extLst>
          </p:cNvPr>
          <p:cNvSpPr>
            <a:spLocks noGrp="1"/>
          </p:cNvSpPr>
          <p:nvPr>
            <p:ph type="title"/>
          </p:nvPr>
        </p:nvSpPr>
        <p:spPr/>
        <p:txBody>
          <a:bodyPr/>
          <a:lstStyle/>
          <a:p>
            <a:r>
              <a:rPr lang="fr-FR" dirty="0"/>
              <a:t>Origine des données</a:t>
            </a:r>
          </a:p>
        </p:txBody>
      </p:sp>
      <p:sp>
        <p:nvSpPr>
          <p:cNvPr id="3" name="Espace réservé du contenu 2">
            <a:extLst>
              <a:ext uri="{FF2B5EF4-FFF2-40B4-BE49-F238E27FC236}">
                <a16:creationId xmlns:a16="http://schemas.microsoft.com/office/drawing/2014/main" id="{D240327F-9741-3698-1E22-1DE80AAB4207}"/>
              </a:ext>
            </a:extLst>
          </p:cNvPr>
          <p:cNvSpPr>
            <a:spLocks noGrp="1"/>
          </p:cNvSpPr>
          <p:nvPr>
            <p:ph idx="1"/>
          </p:nvPr>
        </p:nvSpPr>
        <p:spPr/>
        <p:txBody>
          <a:bodyPr/>
          <a:lstStyle/>
          <a:p>
            <a:r>
              <a:rPr lang="fr-FR" dirty="0"/>
              <a:t>Expérience de speed dating organisée par Tinder en </a:t>
            </a:r>
            <a:r>
              <a:rPr lang="fr-FR" b="1" dirty="0"/>
              <a:t>réel</a:t>
            </a:r>
            <a:r>
              <a:rPr lang="fr-FR" dirty="0"/>
              <a:t>.</a:t>
            </a:r>
          </a:p>
          <a:p>
            <a:r>
              <a:rPr lang="fr-FR" dirty="0"/>
              <a:t>Période : 2002–2004</a:t>
            </a:r>
          </a:p>
          <a:p>
            <a:r>
              <a:rPr lang="fr-FR" dirty="0"/>
              <a:t>Rendez-vous de 4 minutes ( plus de </a:t>
            </a:r>
            <a:r>
              <a:rPr lang="fr" dirty="0">
                <a:solidFill>
                  <a:srgbClr val="FFFFFF"/>
                </a:solidFill>
                <a:latin typeface="Calibri"/>
                <a:ea typeface="Calibri"/>
                <a:cs typeface="Calibri"/>
                <a:sym typeface="Calibri"/>
              </a:rPr>
              <a:t>8 000 speed dating) </a:t>
            </a:r>
            <a:endParaRPr lang="fr-FR" dirty="0"/>
          </a:p>
          <a:p>
            <a:r>
              <a:rPr lang="fr-FR" dirty="0"/>
              <a:t>Décision binaire après chaque rencontre : revoir / ne pas revoir</a:t>
            </a:r>
          </a:p>
          <a:p>
            <a:pPr marL="0" indent="0">
              <a:buNone/>
            </a:pPr>
            <a:endParaRPr lang="fr-FR" dirty="0"/>
          </a:p>
        </p:txBody>
      </p:sp>
    </p:spTree>
    <p:extLst>
      <p:ext uri="{BB962C8B-B14F-4D97-AF65-F5344CB8AC3E}">
        <p14:creationId xmlns:p14="http://schemas.microsoft.com/office/powerpoint/2010/main" val="30646336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0B07D02-A140-F2FC-A5CA-9ACCE181C374}"/>
              </a:ext>
            </a:extLst>
          </p:cNvPr>
          <p:cNvSpPr>
            <a:spLocks noGrp="1"/>
          </p:cNvSpPr>
          <p:nvPr>
            <p:ph type="title"/>
          </p:nvPr>
        </p:nvSpPr>
        <p:spPr/>
        <p:txBody>
          <a:bodyPr/>
          <a:lstStyle/>
          <a:p>
            <a:r>
              <a:rPr lang="fr-FR" dirty="0"/>
              <a:t>Données collectées</a:t>
            </a:r>
          </a:p>
        </p:txBody>
      </p:sp>
      <p:sp>
        <p:nvSpPr>
          <p:cNvPr id="3" name="Espace réservé du contenu 2">
            <a:extLst>
              <a:ext uri="{FF2B5EF4-FFF2-40B4-BE49-F238E27FC236}">
                <a16:creationId xmlns:a16="http://schemas.microsoft.com/office/drawing/2014/main" id="{50FA2D2D-FE6E-B1AF-D225-6B5D2A2868D8}"/>
              </a:ext>
            </a:extLst>
          </p:cNvPr>
          <p:cNvSpPr>
            <a:spLocks noGrp="1"/>
          </p:cNvSpPr>
          <p:nvPr>
            <p:ph idx="1"/>
          </p:nvPr>
        </p:nvSpPr>
        <p:spPr/>
        <p:txBody>
          <a:bodyPr/>
          <a:lstStyle/>
          <a:p>
            <a:r>
              <a:rPr lang="fr-FR" dirty="0"/>
              <a:t>Chaque ligne = une rencontre entre deux personnes</a:t>
            </a:r>
          </a:p>
          <a:p>
            <a:r>
              <a:rPr lang="fr-FR" dirty="0"/>
              <a:t>Données déclaratives + évaluations réciproques</a:t>
            </a:r>
          </a:p>
          <a:p>
            <a:r>
              <a:rPr lang="fr-FR" dirty="0"/>
              <a:t>6 critères principaux : attractivité, sincérité, intelligence,</a:t>
            </a:r>
          </a:p>
          <a:p>
            <a:r>
              <a:rPr lang="fr-FR" dirty="0"/>
              <a:t>humour, ambition, centres d’intérêt communs</a:t>
            </a:r>
          </a:p>
          <a:p>
            <a:endParaRPr lang="fr-FR" dirty="0"/>
          </a:p>
          <a:p>
            <a:r>
              <a:rPr lang="fr-FR" dirty="0"/>
              <a:t>Interactions humaines</a:t>
            </a:r>
          </a:p>
          <a:p>
            <a:r>
              <a:rPr lang="fr-FR" dirty="0"/>
              <a:t>Données riches</a:t>
            </a:r>
          </a:p>
          <a:p>
            <a:r>
              <a:rPr lang="fr-FR" dirty="0"/>
              <a:t>Mais incomplètes</a:t>
            </a:r>
          </a:p>
          <a:p>
            <a:endParaRPr lang="fr-FR" dirty="0"/>
          </a:p>
          <a:p>
            <a:endParaRPr lang="fr-FR" dirty="0"/>
          </a:p>
        </p:txBody>
      </p:sp>
      <p:pic>
        <p:nvPicPr>
          <p:cNvPr id="4" name="Image 3">
            <a:extLst>
              <a:ext uri="{FF2B5EF4-FFF2-40B4-BE49-F238E27FC236}">
                <a16:creationId xmlns:a16="http://schemas.microsoft.com/office/drawing/2014/main" id="{4C3B8B64-E680-B6E4-9B20-2D2193A86826}"/>
              </a:ext>
            </a:extLst>
          </p:cNvPr>
          <p:cNvPicPr>
            <a:picLocks noChangeAspect="1"/>
          </p:cNvPicPr>
          <p:nvPr/>
        </p:nvPicPr>
        <p:blipFill>
          <a:blip r:embed="rId3"/>
          <a:stretch>
            <a:fillRect/>
          </a:stretch>
        </p:blipFill>
        <p:spPr>
          <a:xfrm>
            <a:off x="4419600" y="4837857"/>
            <a:ext cx="7772400" cy="1655018"/>
          </a:xfrm>
          <a:prstGeom prst="rect">
            <a:avLst/>
          </a:prstGeom>
        </p:spPr>
      </p:pic>
    </p:spTree>
    <p:extLst>
      <p:ext uri="{BB962C8B-B14F-4D97-AF65-F5344CB8AC3E}">
        <p14:creationId xmlns:p14="http://schemas.microsoft.com/office/powerpoint/2010/main" val="162508868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296F717-3CFC-0908-71C9-4EA3FD0AD2AE}"/>
              </a:ext>
            </a:extLst>
          </p:cNvPr>
          <p:cNvSpPr>
            <a:spLocks noGrp="1"/>
          </p:cNvSpPr>
          <p:nvPr>
            <p:ph type="title"/>
          </p:nvPr>
        </p:nvSpPr>
        <p:spPr/>
        <p:txBody>
          <a:bodyPr/>
          <a:lstStyle/>
          <a:p>
            <a:r>
              <a:rPr lang="fr-FR" dirty="0"/>
              <a:t>Objectifs de l’étude</a:t>
            </a:r>
          </a:p>
        </p:txBody>
      </p:sp>
      <p:sp>
        <p:nvSpPr>
          <p:cNvPr id="3" name="Espace réservé du contenu 2">
            <a:extLst>
              <a:ext uri="{FF2B5EF4-FFF2-40B4-BE49-F238E27FC236}">
                <a16:creationId xmlns:a16="http://schemas.microsoft.com/office/drawing/2014/main" id="{B377C001-FE39-7AC8-3C5E-D17569099F1D}"/>
              </a:ext>
            </a:extLst>
          </p:cNvPr>
          <p:cNvSpPr>
            <a:spLocks noGrp="1"/>
          </p:cNvSpPr>
          <p:nvPr>
            <p:ph idx="1"/>
          </p:nvPr>
        </p:nvSpPr>
        <p:spPr/>
        <p:txBody>
          <a:bodyPr/>
          <a:lstStyle/>
          <a:p>
            <a:r>
              <a:rPr lang="fr-FR" dirty="0"/>
              <a:t>Identifier les déterminants du match et du second rendez-vous</a:t>
            </a:r>
          </a:p>
          <a:p>
            <a:r>
              <a:rPr lang="fr-FR" dirty="0"/>
              <a:t>Analyse exploratoire (EDA)</a:t>
            </a:r>
          </a:p>
          <a:p>
            <a:r>
              <a:rPr lang="fr-FR" dirty="0"/>
              <a:t>Compréhension des biais et limites des données</a:t>
            </a:r>
          </a:p>
          <a:p>
            <a:r>
              <a:rPr lang="fr-FR" dirty="0"/>
              <a:t>Premiers modèles prédictifs interprétables</a:t>
            </a:r>
          </a:p>
          <a:p>
            <a:endParaRPr lang="fr-FR" dirty="0"/>
          </a:p>
        </p:txBody>
      </p:sp>
      <p:pic>
        <p:nvPicPr>
          <p:cNvPr id="4" name="Image 3">
            <a:extLst>
              <a:ext uri="{FF2B5EF4-FFF2-40B4-BE49-F238E27FC236}">
                <a16:creationId xmlns:a16="http://schemas.microsoft.com/office/drawing/2014/main" id="{AFF8C2A8-88CE-A8D0-7FE3-EACA341CD99D}"/>
              </a:ext>
            </a:extLst>
          </p:cNvPr>
          <p:cNvPicPr>
            <a:picLocks noChangeAspect="1"/>
          </p:cNvPicPr>
          <p:nvPr/>
        </p:nvPicPr>
        <p:blipFill>
          <a:blip r:embed="rId3"/>
          <a:stretch>
            <a:fillRect/>
          </a:stretch>
        </p:blipFill>
        <p:spPr>
          <a:xfrm>
            <a:off x="2628900" y="3948703"/>
            <a:ext cx="6362700" cy="2909297"/>
          </a:xfrm>
          <a:prstGeom prst="rect">
            <a:avLst/>
          </a:prstGeom>
        </p:spPr>
      </p:pic>
    </p:spTree>
    <p:extLst>
      <p:ext uri="{BB962C8B-B14F-4D97-AF65-F5344CB8AC3E}">
        <p14:creationId xmlns:p14="http://schemas.microsoft.com/office/powerpoint/2010/main" val="3366469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12B1925-DB28-88AE-4882-3065867A3746}"/>
              </a:ext>
            </a:extLst>
          </p:cNvPr>
          <p:cNvSpPr>
            <a:spLocks noGrp="1"/>
          </p:cNvSpPr>
          <p:nvPr>
            <p:ph type="title"/>
          </p:nvPr>
        </p:nvSpPr>
        <p:spPr/>
        <p:txBody>
          <a:bodyPr/>
          <a:lstStyle/>
          <a:p>
            <a:r>
              <a:rPr lang="fr-FR" dirty="0"/>
              <a:t>Méthodologie de l’EDA</a:t>
            </a:r>
          </a:p>
        </p:txBody>
      </p:sp>
      <p:sp>
        <p:nvSpPr>
          <p:cNvPr id="3" name="Espace réservé du contenu 2">
            <a:extLst>
              <a:ext uri="{FF2B5EF4-FFF2-40B4-BE49-F238E27FC236}">
                <a16:creationId xmlns:a16="http://schemas.microsoft.com/office/drawing/2014/main" id="{D19464AB-3995-9010-29BE-B614AF8F2C10}"/>
              </a:ext>
            </a:extLst>
          </p:cNvPr>
          <p:cNvSpPr>
            <a:spLocks noGrp="1"/>
          </p:cNvSpPr>
          <p:nvPr>
            <p:ph idx="1"/>
          </p:nvPr>
        </p:nvSpPr>
        <p:spPr/>
        <p:txBody>
          <a:bodyPr/>
          <a:lstStyle/>
          <a:p>
            <a:pPr>
              <a:buFontTx/>
              <a:buChar char="-"/>
            </a:pPr>
            <a:r>
              <a:rPr lang="fr-FR" dirty="0"/>
              <a:t>Statistique sur </a:t>
            </a:r>
            <a:r>
              <a:rPr lang="fr-FR" dirty="0" err="1"/>
              <a:t>age</a:t>
            </a:r>
            <a:r>
              <a:rPr lang="fr-FR" dirty="0"/>
              <a:t> et ethnie</a:t>
            </a:r>
          </a:p>
          <a:p>
            <a:pPr>
              <a:buFontTx/>
              <a:buChar char="-"/>
            </a:pPr>
            <a:r>
              <a:rPr lang="fr-FR" dirty="0"/>
              <a:t>Niveau CSP (études, profession, richesse)</a:t>
            </a:r>
          </a:p>
          <a:p>
            <a:pPr>
              <a:buFontTx/>
              <a:buChar char="-"/>
            </a:pPr>
            <a:r>
              <a:rPr lang="fr-FR" dirty="0"/>
              <a:t>Influence de l’évènement (planning des dates)</a:t>
            </a:r>
          </a:p>
          <a:p>
            <a:pPr>
              <a:buFontTx/>
              <a:buChar char="-"/>
            </a:pPr>
            <a:r>
              <a:rPr lang="fr-FR" dirty="0"/>
              <a:t>Analyse des centres d’intérêt et caractéristiques humaines  </a:t>
            </a:r>
          </a:p>
          <a:p>
            <a:endParaRPr lang="fr-FR" dirty="0"/>
          </a:p>
          <a:p>
            <a:r>
              <a:rPr lang="fr-FR" dirty="0"/>
              <a:t>Puis un modèle de </a:t>
            </a:r>
            <a:r>
              <a:rPr lang="fr-FR" dirty="0" err="1"/>
              <a:t>regression</a:t>
            </a:r>
            <a:r>
              <a:rPr lang="fr-FR" dirty="0"/>
              <a:t> linéaire </a:t>
            </a:r>
            <a:br>
              <a:rPr lang="fr-FR" dirty="0"/>
            </a:br>
            <a:r>
              <a:rPr lang="fr-FR" dirty="0"/>
              <a:t>	</a:t>
            </a:r>
          </a:p>
        </p:txBody>
      </p:sp>
    </p:spTree>
    <p:extLst>
      <p:ext uri="{BB962C8B-B14F-4D97-AF65-F5344CB8AC3E}">
        <p14:creationId xmlns:p14="http://schemas.microsoft.com/office/powerpoint/2010/main" val="3160616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CC98C8E-99A2-9D0F-DE08-8AAE6B66AABA}"/>
              </a:ext>
            </a:extLst>
          </p:cNvPr>
          <p:cNvSpPr>
            <a:spLocks noGrp="1"/>
          </p:cNvSpPr>
          <p:nvPr>
            <p:ph type="title"/>
          </p:nvPr>
        </p:nvSpPr>
        <p:spPr/>
        <p:txBody>
          <a:bodyPr/>
          <a:lstStyle/>
          <a:p>
            <a:r>
              <a:rPr lang="fr-FR" dirty="0"/>
              <a:t>Analyse des données</a:t>
            </a:r>
          </a:p>
        </p:txBody>
      </p:sp>
      <p:sp>
        <p:nvSpPr>
          <p:cNvPr id="3" name="Espace réservé du contenu 2">
            <a:extLst>
              <a:ext uri="{FF2B5EF4-FFF2-40B4-BE49-F238E27FC236}">
                <a16:creationId xmlns:a16="http://schemas.microsoft.com/office/drawing/2014/main" id="{B053AE12-01BB-3923-FC3D-05A89B8B0018}"/>
              </a:ext>
            </a:extLst>
          </p:cNvPr>
          <p:cNvSpPr>
            <a:spLocks noGrp="1"/>
          </p:cNvSpPr>
          <p:nvPr>
            <p:ph idx="1"/>
          </p:nvPr>
        </p:nvSpPr>
        <p:spPr/>
        <p:txBody>
          <a:bodyPr/>
          <a:lstStyle/>
          <a:p>
            <a:pPr marL="0" lvl="0" indent="0">
              <a:spcBef>
                <a:spcPts val="0"/>
              </a:spcBef>
              <a:buNone/>
            </a:pPr>
            <a:r>
              <a:rPr lang="fr-FR" dirty="0">
                <a:solidFill>
                  <a:srgbClr val="FFFFFF"/>
                </a:solidFill>
                <a:latin typeface="Calibri"/>
                <a:ea typeface="Calibri"/>
                <a:cs typeface="Calibri"/>
                <a:sym typeface="Calibri"/>
              </a:rPr>
              <a:t>Âges 20–35 ans</a:t>
            </a:r>
          </a:p>
          <a:p>
            <a:pPr marL="0" indent="0">
              <a:spcBef>
                <a:spcPts val="0"/>
              </a:spcBef>
              <a:buNone/>
            </a:pPr>
            <a:r>
              <a:rPr lang="fr-FR" dirty="0">
                <a:solidFill>
                  <a:srgbClr val="FFFFFF"/>
                </a:solidFill>
                <a:latin typeface="Calibri"/>
                <a:ea typeface="Calibri"/>
                <a:cs typeface="Calibri"/>
                <a:sym typeface="Calibri"/>
              </a:rPr>
              <a:t>Répartition équilibrée</a:t>
            </a:r>
          </a:p>
          <a:p>
            <a:pPr marL="0" indent="0">
              <a:spcBef>
                <a:spcPts val="0"/>
              </a:spcBef>
              <a:buNone/>
            </a:pPr>
            <a:endParaRPr lang="fr-FR" dirty="0">
              <a:solidFill>
                <a:srgbClr val="FFFFFF"/>
              </a:solidFill>
              <a:latin typeface="Calibri"/>
              <a:cs typeface="Calibri"/>
              <a:sym typeface="Calibri"/>
            </a:endParaRPr>
          </a:p>
          <a:p>
            <a:pPr marL="0" indent="0">
              <a:spcBef>
                <a:spcPts val="0"/>
              </a:spcBef>
              <a:buNone/>
            </a:pPr>
            <a:endParaRPr lang="fr-FR" dirty="0"/>
          </a:p>
          <a:p>
            <a:pPr marL="0" lvl="0" indent="0">
              <a:spcBef>
                <a:spcPts val="0"/>
              </a:spcBef>
              <a:buNone/>
            </a:pPr>
            <a:r>
              <a:rPr lang="fr-FR" dirty="0">
                <a:solidFill>
                  <a:srgbClr val="FFFFFF"/>
                </a:solidFill>
                <a:latin typeface="Calibri"/>
                <a:ea typeface="Calibri"/>
                <a:cs typeface="Calibri"/>
                <a:sym typeface="Calibri"/>
              </a:rPr>
              <a:t>Même origine → faible impact</a:t>
            </a:r>
            <a:endParaRPr lang="fr-FR" sz="1200" dirty="0"/>
          </a:p>
          <a:p>
            <a:pPr marL="0" lvl="0" indent="0">
              <a:spcBef>
                <a:spcPts val="0"/>
              </a:spcBef>
              <a:buNone/>
            </a:pPr>
            <a:r>
              <a:rPr lang="fr-FR" dirty="0">
                <a:solidFill>
                  <a:srgbClr val="FFFFFF"/>
                </a:solidFill>
                <a:latin typeface="Calibri"/>
                <a:ea typeface="Calibri"/>
                <a:cs typeface="Calibri"/>
                <a:sym typeface="Calibri"/>
              </a:rPr>
              <a:t>Intérêts partagés → impact fort</a:t>
            </a:r>
            <a:endParaRPr lang="fr-FR" sz="1200" dirty="0"/>
          </a:p>
          <a:p>
            <a:pPr marL="0" lvl="0" indent="0">
              <a:spcBef>
                <a:spcPts val="0"/>
              </a:spcBef>
              <a:buNone/>
            </a:pPr>
            <a:endParaRPr lang="fr-FR" dirty="0">
              <a:solidFill>
                <a:srgbClr val="FFFFFF"/>
              </a:solidFill>
              <a:latin typeface="Calibri"/>
              <a:ea typeface="Calibri"/>
              <a:cs typeface="Calibri"/>
              <a:sym typeface="Calibri"/>
            </a:endParaRPr>
          </a:p>
          <a:p>
            <a:pPr marL="0" lvl="0" indent="0">
              <a:spcBef>
                <a:spcPts val="0"/>
              </a:spcBef>
              <a:buNone/>
            </a:pPr>
            <a:endParaRPr lang="fr-FR" sz="1200" dirty="0"/>
          </a:p>
          <a:p>
            <a:pPr marL="0" lvl="0" indent="0">
              <a:spcBef>
                <a:spcPts val="0"/>
              </a:spcBef>
              <a:buNone/>
            </a:pPr>
            <a:endParaRPr lang="fr-FR" sz="1100" dirty="0"/>
          </a:p>
        </p:txBody>
      </p:sp>
      <p:pic>
        <p:nvPicPr>
          <p:cNvPr id="4" name="Image 3">
            <a:extLst>
              <a:ext uri="{FF2B5EF4-FFF2-40B4-BE49-F238E27FC236}">
                <a16:creationId xmlns:a16="http://schemas.microsoft.com/office/drawing/2014/main" id="{37590CB9-4953-9AD7-4F8B-A025DC6071A7}"/>
              </a:ext>
            </a:extLst>
          </p:cNvPr>
          <p:cNvPicPr>
            <a:picLocks noChangeAspect="1"/>
          </p:cNvPicPr>
          <p:nvPr/>
        </p:nvPicPr>
        <p:blipFill>
          <a:blip r:embed="rId3"/>
          <a:stretch>
            <a:fillRect/>
          </a:stretch>
        </p:blipFill>
        <p:spPr>
          <a:xfrm>
            <a:off x="6390616" y="1002835"/>
            <a:ext cx="5477534" cy="2426165"/>
          </a:xfrm>
          <a:prstGeom prst="rect">
            <a:avLst/>
          </a:prstGeom>
        </p:spPr>
      </p:pic>
      <p:pic>
        <p:nvPicPr>
          <p:cNvPr id="7" name="Image 6">
            <a:extLst>
              <a:ext uri="{FF2B5EF4-FFF2-40B4-BE49-F238E27FC236}">
                <a16:creationId xmlns:a16="http://schemas.microsoft.com/office/drawing/2014/main" id="{7250EE91-9CE7-C5AC-27C8-1ECFF3ADF742}"/>
              </a:ext>
            </a:extLst>
          </p:cNvPr>
          <p:cNvPicPr>
            <a:picLocks noChangeAspect="1"/>
          </p:cNvPicPr>
          <p:nvPr/>
        </p:nvPicPr>
        <p:blipFill>
          <a:blip r:embed="rId4"/>
          <a:stretch>
            <a:fillRect/>
          </a:stretch>
        </p:blipFill>
        <p:spPr>
          <a:xfrm>
            <a:off x="323850" y="4231440"/>
            <a:ext cx="5124450" cy="2493209"/>
          </a:xfrm>
          <a:prstGeom prst="rect">
            <a:avLst/>
          </a:prstGeom>
        </p:spPr>
      </p:pic>
      <p:pic>
        <p:nvPicPr>
          <p:cNvPr id="8" name="Image 7">
            <a:extLst>
              <a:ext uri="{FF2B5EF4-FFF2-40B4-BE49-F238E27FC236}">
                <a16:creationId xmlns:a16="http://schemas.microsoft.com/office/drawing/2014/main" id="{6AE22139-AA67-D27D-CB5A-FB8EFE68BAE8}"/>
              </a:ext>
            </a:extLst>
          </p:cNvPr>
          <p:cNvPicPr>
            <a:picLocks noChangeAspect="1"/>
          </p:cNvPicPr>
          <p:nvPr/>
        </p:nvPicPr>
        <p:blipFill>
          <a:blip r:embed="rId5"/>
          <a:stretch>
            <a:fillRect/>
          </a:stretch>
        </p:blipFill>
        <p:spPr>
          <a:xfrm>
            <a:off x="6623507" y="4231439"/>
            <a:ext cx="5244643" cy="2493209"/>
          </a:xfrm>
          <a:prstGeom prst="rect">
            <a:avLst/>
          </a:prstGeom>
        </p:spPr>
      </p:pic>
      <p:sp>
        <p:nvSpPr>
          <p:cNvPr id="9" name="Flèche vers la droite 8">
            <a:extLst>
              <a:ext uri="{FF2B5EF4-FFF2-40B4-BE49-F238E27FC236}">
                <a16:creationId xmlns:a16="http://schemas.microsoft.com/office/drawing/2014/main" id="{F1848DD5-C415-268F-DA46-8C5D88579115}"/>
              </a:ext>
            </a:extLst>
          </p:cNvPr>
          <p:cNvSpPr/>
          <p:nvPr/>
        </p:nvSpPr>
        <p:spPr>
          <a:xfrm>
            <a:off x="5718632" y="5135143"/>
            <a:ext cx="781050" cy="673565"/>
          </a:xfrm>
          <a:prstGeom prst="rightArrow">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22954983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36A78D-927A-D693-2CB0-5BDAAF173BB2}"/>
              </a:ext>
            </a:extLst>
          </p:cNvPr>
          <p:cNvSpPr>
            <a:spLocks noGrp="1"/>
          </p:cNvSpPr>
          <p:nvPr>
            <p:ph type="title"/>
          </p:nvPr>
        </p:nvSpPr>
        <p:spPr/>
        <p:txBody>
          <a:bodyPr/>
          <a:lstStyle/>
          <a:p>
            <a:endParaRPr lang="fr-FR"/>
          </a:p>
        </p:txBody>
      </p:sp>
      <p:sp>
        <p:nvSpPr>
          <p:cNvPr id="3" name="Espace réservé du contenu 2">
            <a:extLst>
              <a:ext uri="{FF2B5EF4-FFF2-40B4-BE49-F238E27FC236}">
                <a16:creationId xmlns:a16="http://schemas.microsoft.com/office/drawing/2014/main" id="{1FE8E5E0-0D19-89F4-72D9-F04C9C6E0501}"/>
              </a:ext>
            </a:extLst>
          </p:cNvPr>
          <p:cNvSpPr>
            <a:spLocks noGrp="1"/>
          </p:cNvSpPr>
          <p:nvPr>
            <p:ph idx="1"/>
          </p:nvPr>
        </p:nvSpPr>
        <p:spPr/>
        <p:txBody>
          <a:bodyPr/>
          <a:lstStyle/>
          <a:p>
            <a:pPr marL="0" lvl="0" indent="0">
              <a:spcBef>
                <a:spcPts val="0"/>
              </a:spcBef>
              <a:buNone/>
            </a:pPr>
            <a:r>
              <a:rPr lang="fr-FR" dirty="0"/>
              <a:t>Importance perçue dissymétrie homme-femme sur affection</a:t>
            </a:r>
          </a:p>
          <a:p>
            <a:pPr marL="0" lvl="0" indent="0">
              <a:spcBef>
                <a:spcPts val="0"/>
              </a:spcBef>
              <a:buNone/>
            </a:pPr>
            <a:r>
              <a:rPr lang="fr-FR" dirty="0">
                <a:solidFill>
                  <a:srgbClr val="FFFFFF"/>
                </a:solidFill>
                <a:latin typeface="Calibri"/>
                <a:ea typeface="Calibri"/>
                <a:cs typeface="Calibri"/>
                <a:sym typeface="Calibri"/>
              </a:rPr>
              <a:t>	Hommes → attractivité + fun</a:t>
            </a:r>
            <a:endParaRPr lang="fr-FR" sz="1200" dirty="0"/>
          </a:p>
          <a:p>
            <a:pPr marL="0" lvl="0" indent="0">
              <a:spcBef>
                <a:spcPts val="0"/>
              </a:spcBef>
              <a:buNone/>
            </a:pPr>
            <a:r>
              <a:rPr lang="fr-FR" dirty="0">
                <a:solidFill>
                  <a:srgbClr val="FFFFFF"/>
                </a:solidFill>
                <a:latin typeface="Calibri"/>
                <a:ea typeface="Calibri"/>
                <a:cs typeface="Calibri"/>
                <a:sym typeface="Calibri"/>
              </a:rPr>
              <a:t>	Femmes → sincérité + intelligence</a:t>
            </a:r>
          </a:p>
          <a:p>
            <a:endParaRPr lang="fr-FR" dirty="0"/>
          </a:p>
        </p:txBody>
      </p:sp>
      <p:pic>
        <p:nvPicPr>
          <p:cNvPr id="4" name="Image 3">
            <a:extLst>
              <a:ext uri="{FF2B5EF4-FFF2-40B4-BE49-F238E27FC236}">
                <a16:creationId xmlns:a16="http://schemas.microsoft.com/office/drawing/2014/main" id="{9DBFD034-A580-0925-3DAF-EC9A896A08B9}"/>
              </a:ext>
            </a:extLst>
          </p:cNvPr>
          <p:cNvPicPr>
            <a:picLocks noChangeAspect="1"/>
          </p:cNvPicPr>
          <p:nvPr/>
        </p:nvPicPr>
        <p:blipFill>
          <a:blip r:embed="rId3"/>
          <a:stretch>
            <a:fillRect/>
          </a:stretch>
        </p:blipFill>
        <p:spPr>
          <a:xfrm>
            <a:off x="2409165" y="3429000"/>
            <a:ext cx="7258113" cy="3063875"/>
          </a:xfrm>
          <a:prstGeom prst="rect">
            <a:avLst/>
          </a:prstGeom>
        </p:spPr>
      </p:pic>
    </p:spTree>
    <p:extLst>
      <p:ext uri="{BB962C8B-B14F-4D97-AF65-F5344CB8AC3E}">
        <p14:creationId xmlns:p14="http://schemas.microsoft.com/office/powerpoint/2010/main" val="3729298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77C3A78-E082-8091-B765-D515BC857B25}"/>
              </a:ext>
            </a:extLst>
          </p:cNvPr>
          <p:cNvSpPr>
            <a:spLocks noGrp="1"/>
          </p:cNvSpPr>
          <p:nvPr>
            <p:ph type="title"/>
          </p:nvPr>
        </p:nvSpPr>
        <p:spPr/>
        <p:txBody>
          <a:bodyPr/>
          <a:lstStyle/>
          <a:p>
            <a:r>
              <a:rPr lang="fr-FR" dirty="0"/>
              <a:t>Résultats clés</a:t>
            </a:r>
          </a:p>
        </p:txBody>
      </p:sp>
      <p:sp>
        <p:nvSpPr>
          <p:cNvPr id="3" name="Espace réservé du contenu 2">
            <a:extLst>
              <a:ext uri="{FF2B5EF4-FFF2-40B4-BE49-F238E27FC236}">
                <a16:creationId xmlns:a16="http://schemas.microsoft.com/office/drawing/2014/main" id="{1BD4EA08-1DB6-1D75-8305-09452DF80652}"/>
              </a:ext>
            </a:extLst>
          </p:cNvPr>
          <p:cNvSpPr>
            <a:spLocks noGrp="1"/>
          </p:cNvSpPr>
          <p:nvPr>
            <p:ph idx="1"/>
          </p:nvPr>
        </p:nvSpPr>
        <p:spPr/>
        <p:txBody>
          <a:bodyPr/>
          <a:lstStyle/>
          <a:p>
            <a:r>
              <a:rPr lang="fr-FR" dirty="0"/>
              <a:t>Taux de match faible (~16%)</a:t>
            </a:r>
          </a:p>
          <a:p>
            <a:r>
              <a:rPr lang="fr-FR" dirty="0"/>
              <a:t>Les hommes subissent plus de rejets</a:t>
            </a:r>
          </a:p>
          <a:p>
            <a:endParaRPr lang="fr-FR" dirty="0"/>
          </a:p>
          <a:p>
            <a:r>
              <a:rPr lang="fr-FR" dirty="0"/>
              <a:t>Attractivité = facteur dominant mais flou</a:t>
            </a:r>
          </a:p>
          <a:p>
            <a:r>
              <a:rPr lang="fr-FR" dirty="0"/>
              <a:t>Centres d’intérêt peu corrélés</a:t>
            </a:r>
          </a:p>
          <a:p>
            <a:endParaRPr lang="fr-FR" dirty="0"/>
          </a:p>
        </p:txBody>
      </p:sp>
    </p:spTree>
    <p:extLst>
      <p:ext uri="{BB962C8B-B14F-4D97-AF65-F5344CB8AC3E}">
        <p14:creationId xmlns:p14="http://schemas.microsoft.com/office/powerpoint/2010/main" val="2555467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4FC2ACD-1FF0-EF11-5D46-52B542698A44}"/>
              </a:ext>
            </a:extLst>
          </p:cNvPr>
          <p:cNvSpPr>
            <a:spLocks noGrp="1"/>
          </p:cNvSpPr>
          <p:nvPr>
            <p:ph type="title"/>
          </p:nvPr>
        </p:nvSpPr>
        <p:spPr/>
        <p:txBody>
          <a:bodyPr/>
          <a:lstStyle/>
          <a:p>
            <a:r>
              <a:rPr lang="fr-FR" dirty="0"/>
              <a:t>Conclusion</a:t>
            </a:r>
          </a:p>
        </p:txBody>
      </p:sp>
      <p:sp>
        <p:nvSpPr>
          <p:cNvPr id="3" name="Espace réservé du contenu 2">
            <a:extLst>
              <a:ext uri="{FF2B5EF4-FFF2-40B4-BE49-F238E27FC236}">
                <a16:creationId xmlns:a16="http://schemas.microsoft.com/office/drawing/2014/main" id="{667353CE-CE00-7390-79BD-4037C5257527}"/>
              </a:ext>
            </a:extLst>
          </p:cNvPr>
          <p:cNvSpPr>
            <a:spLocks noGrp="1"/>
          </p:cNvSpPr>
          <p:nvPr>
            <p:ph idx="1"/>
          </p:nvPr>
        </p:nvSpPr>
        <p:spPr/>
        <p:txBody>
          <a:bodyPr/>
          <a:lstStyle/>
          <a:p>
            <a:r>
              <a:rPr lang="fr-FR" dirty="0"/>
              <a:t>Pas de formule magique</a:t>
            </a:r>
          </a:p>
          <a:p>
            <a:r>
              <a:rPr lang="fr-FR" dirty="0"/>
              <a:t>L’affection mutuelle décide </a:t>
            </a:r>
          </a:p>
          <a:p>
            <a:pPr lvl="1"/>
            <a:r>
              <a:rPr lang="fr-FR" dirty="0"/>
              <a:t>et les sources possibles d’affection sont biaisées par le sexe.</a:t>
            </a:r>
          </a:p>
          <a:p>
            <a:pPr lvl="1"/>
            <a:endParaRPr lang="fr-FR" dirty="0"/>
          </a:p>
          <a:p>
            <a:r>
              <a:rPr lang="fr-FR" dirty="0"/>
              <a:t>Travailler sur des critères « communs » d’affection entre homme et femme (fun connectable à intelligence ?)</a:t>
            </a:r>
          </a:p>
          <a:p>
            <a:r>
              <a:rPr lang="fr-FR" dirty="0"/>
              <a:t>Difficulté des statistiques pour appréhender l’affection (besoin d’intelligence déductive ?)</a:t>
            </a:r>
          </a:p>
          <a:p>
            <a:endParaRPr lang="fr-FR" dirty="0"/>
          </a:p>
        </p:txBody>
      </p:sp>
    </p:spTree>
    <p:extLst>
      <p:ext uri="{BB962C8B-B14F-4D97-AF65-F5344CB8AC3E}">
        <p14:creationId xmlns:p14="http://schemas.microsoft.com/office/powerpoint/2010/main" val="1639503538"/>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125</TotalTime>
  <Words>981</Words>
  <Application>Microsoft Macintosh PowerPoint</Application>
  <PresentationFormat>Grand écran</PresentationFormat>
  <Paragraphs>95</Paragraphs>
  <Slides>10</Slides>
  <Notes>10</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10</vt:i4>
      </vt:variant>
    </vt:vector>
  </HeadingPairs>
  <TitlesOfParts>
    <vt:vector size="15" baseType="lpstr">
      <vt:lpstr>Aptos</vt:lpstr>
      <vt:lpstr>Aptos Display</vt:lpstr>
      <vt:lpstr>Arial</vt:lpstr>
      <vt:lpstr>Calibri</vt:lpstr>
      <vt:lpstr>Thème Office</vt:lpstr>
      <vt:lpstr>Speed Dating : </vt:lpstr>
      <vt:lpstr>Speed Dating – Contexte - Objectifs</vt:lpstr>
      <vt:lpstr>Origine des données</vt:lpstr>
      <vt:lpstr>Données collectées</vt:lpstr>
      <vt:lpstr>Objectifs de l’étude</vt:lpstr>
      <vt:lpstr>Méthodologie de l’EDA</vt:lpstr>
      <vt:lpstr>Analyse des données</vt:lpstr>
      <vt:lpstr>Présentation PowerPoint</vt:lpstr>
      <vt:lpstr>Résultats clés</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Francis Pradel</dc:creator>
  <cp:lastModifiedBy>Francis Pradel</cp:lastModifiedBy>
  <cp:revision>13</cp:revision>
  <dcterms:created xsi:type="dcterms:W3CDTF">2026-02-12T07:43:54Z</dcterms:created>
  <dcterms:modified xsi:type="dcterms:W3CDTF">2026-02-12T18:03:35Z</dcterms:modified>
</cp:coreProperties>
</file>